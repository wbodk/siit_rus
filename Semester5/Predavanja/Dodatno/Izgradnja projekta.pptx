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2" r:id="rId1"/>
  </p:sldMasterIdLst>
  <p:notesMasterIdLst>
    <p:notesMasterId r:id="rId52"/>
  </p:notesMasterIdLst>
  <p:sldIdLst>
    <p:sldId id="256" r:id="rId2"/>
    <p:sldId id="257" r:id="rId3"/>
    <p:sldId id="258" r:id="rId4"/>
    <p:sldId id="308" r:id="rId5"/>
    <p:sldId id="259" r:id="rId6"/>
    <p:sldId id="260" r:id="rId7"/>
    <p:sldId id="261" r:id="rId8"/>
    <p:sldId id="263" r:id="rId9"/>
    <p:sldId id="262" r:id="rId10"/>
    <p:sldId id="279" r:id="rId11"/>
    <p:sldId id="264" r:id="rId12"/>
    <p:sldId id="272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3" r:id="rId21"/>
    <p:sldId id="274" r:id="rId22"/>
    <p:sldId id="276" r:id="rId23"/>
    <p:sldId id="277" r:id="rId24"/>
    <p:sldId id="278" r:id="rId25"/>
    <p:sldId id="280" r:id="rId26"/>
    <p:sldId id="281" r:id="rId27"/>
    <p:sldId id="305" r:id="rId28"/>
    <p:sldId id="302" r:id="rId29"/>
    <p:sldId id="303" r:id="rId30"/>
    <p:sldId id="304" r:id="rId31"/>
    <p:sldId id="282" r:id="rId32"/>
    <p:sldId id="283" r:id="rId33"/>
    <p:sldId id="284" r:id="rId34"/>
    <p:sldId id="285" r:id="rId35"/>
    <p:sldId id="286" r:id="rId36"/>
    <p:sldId id="291" r:id="rId37"/>
    <p:sldId id="292" r:id="rId38"/>
    <p:sldId id="293" r:id="rId39"/>
    <p:sldId id="288" r:id="rId40"/>
    <p:sldId id="297" r:id="rId41"/>
    <p:sldId id="294" r:id="rId42"/>
    <p:sldId id="295" r:id="rId43"/>
    <p:sldId id="296" r:id="rId44"/>
    <p:sldId id="299" r:id="rId45"/>
    <p:sldId id="298" r:id="rId46"/>
    <p:sldId id="300" r:id="rId47"/>
    <p:sldId id="301" r:id="rId48"/>
    <p:sldId id="287" r:id="rId49"/>
    <p:sldId id="306" r:id="rId50"/>
    <p:sldId id="307" r:id="rId5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3189D8-5E83-4C66-B6B8-F88167846441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3E7DDA-34D1-4808-BFCE-0EB6BD581D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6091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3E7DDA-34D1-4808-BFCE-0EB6BD581D6B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06645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1DCAF89-4240-4249-8A05-582DCBA3A02F}" type="datetimeFigureOut">
              <a:rPr lang="en-GB" smtClean="0"/>
              <a:pPr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8AD25DA-8485-4543-847D-D37AACA65EAD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1DCAF89-4240-4249-8A05-582DCBA3A02F}" type="datetimeFigureOut">
              <a:rPr lang="en-GB" smtClean="0"/>
              <a:t>14/10/2020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68AD25DA-8485-4543-847D-D37AACA65EAD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Izgradnja projekta</a:t>
            </a:r>
            <a:br>
              <a:rPr lang="sr-Latn-RS" dirty="0"/>
            </a:br>
            <a:r>
              <a:rPr lang="sr-Latn-RS" dirty="0"/>
              <a:t>- Apache Maven -</a:t>
            </a:r>
            <a:endParaRPr lang="en-GB" dirty="0"/>
          </a:p>
        </p:txBody>
      </p:sp>
      <p:pic>
        <p:nvPicPr>
          <p:cNvPr id="1026" name="Picture 2" descr="Image result for apache mave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581400"/>
            <a:ext cx="6705600" cy="169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232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Konstrukcija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Konstrukcija softvera uključuje</a:t>
            </a:r>
          </a:p>
          <a:p>
            <a:pPr lvl="1"/>
            <a:r>
              <a:rPr lang="sr-Latn-RS" dirty="0"/>
              <a:t>razvoj programa (kodiranje)</a:t>
            </a:r>
          </a:p>
          <a:p>
            <a:pPr lvl="1"/>
            <a:r>
              <a:rPr lang="sr-Latn-RS" dirty="0"/>
              <a:t>verifikaciju programa (testiranje)</a:t>
            </a:r>
          </a:p>
          <a:p>
            <a:pPr lvl="1"/>
            <a:r>
              <a:rPr lang="sr-Latn-RS" dirty="0"/>
              <a:t>korišćenje dodatnih tehnologija za podršku konstrukciji</a:t>
            </a:r>
          </a:p>
          <a:p>
            <a:pPr lvl="2"/>
            <a:r>
              <a:rPr lang="sr-Latn-RS" dirty="0"/>
              <a:t>automatizovana izgradnja projekta</a:t>
            </a:r>
          </a:p>
          <a:p>
            <a:pPr lvl="2"/>
            <a:r>
              <a:rPr lang="sr-Latn-RS" dirty="0"/>
              <a:t>kontrola verzija programskog koda</a:t>
            </a:r>
          </a:p>
          <a:p>
            <a:pPr lvl="2"/>
            <a:r>
              <a:rPr lang="sr-Latn-RS" dirty="0"/>
              <a:t>kontinuirana integracija softvera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2887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Automatizovana izgradnja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Deo operacija pri kreiranju softvera se može automatizovati</a:t>
            </a:r>
          </a:p>
          <a:p>
            <a:pPr lvl="1"/>
            <a:r>
              <a:rPr lang="sr-Latn-RS" dirty="0"/>
              <a:t>dobavljanje biblioteka programskog koda</a:t>
            </a:r>
          </a:p>
          <a:p>
            <a:pPr lvl="1"/>
            <a:r>
              <a:rPr lang="sr-Latn-RS" dirty="0"/>
              <a:t>kompajliranje</a:t>
            </a:r>
          </a:p>
          <a:p>
            <a:pPr lvl="1"/>
            <a:r>
              <a:rPr lang="sr-Latn-RS" dirty="0"/>
              <a:t>spajanje i organizovanje koda (</a:t>
            </a:r>
            <a:r>
              <a:rPr lang="sr-Latn-RS" i="1" dirty="0"/>
              <a:t>packaging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postavljanje koda (</a:t>
            </a:r>
            <a:r>
              <a:rPr lang="sr-Latn-RS" i="1" dirty="0"/>
              <a:t>deployment</a:t>
            </a:r>
            <a:r>
              <a:rPr lang="sr-Latn-RS" dirty="0"/>
              <a:t>)</a:t>
            </a:r>
          </a:p>
          <a:p>
            <a:pPr lvl="1"/>
            <a:r>
              <a:rPr lang="sr-Latn-RS" dirty="0"/>
              <a:t>izvršavanje testova</a:t>
            </a:r>
          </a:p>
          <a:p>
            <a:pPr lvl="1"/>
            <a:r>
              <a:rPr lang="sr-Latn-RS" dirty="0"/>
              <a:t>...</a:t>
            </a:r>
          </a:p>
          <a:p>
            <a:r>
              <a:rPr lang="sr-Latn-RS" dirty="0"/>
              <a:t>Moguće je automatizovano u nizu izvršiti sve operacije koje su deo životnog ciklusa razvoja softvera</a:t>
            </a:r>
          </a:p>
        </p:txBody>
      </p:sp>
    </p:spTree>
    <p:extLst>
      <p:ext uri="{BB962C8B-B14F-4D97-AF65-F5344CB8AC3E}">
        <p14:creationId xmlns:p14="http://schemas.microsoft.com/office/powerpoint/2010/main" val="185130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Alati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izgradnju</a:t>
            </a:r>
            <a:r>
              <a:rPr lang="en-US" dirty="0" smtClean="0"/>
              <a:t> </a:t>
            </a:r>
            <a:r>
              <a:rPr lang="en-US" dirty="0" err="1" smtClean="0"/>
              <a:t>softvera</a:t>
            </a:r>
            <a:endParaRPr lang="en-US" dirty="0"/>
          </a:p>
        </p:txBody>
      </p:sp>
      <p:pic>
        <p:nvPicPr>
          <p:cNvPr id="1026" name="Picture 2" descr="Pieter Bruegel the Elder - The Tower of Babel (Vienna) - Google Art Project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417638"/>
            <a:ext cx="4191000" cy="3067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2"/>
          <p:cNvSpPr>
            <a:spLocks noGrp="1"/>
          </p:cNvSpPr>
          <p:nvPr>
            <p:ph sz="quarter" idx="1"/>
          </p:nvPr>
        </p:nvSpPr>
        <p:spPr>
          <a:xfrm>
            <a:off x="6781800" y="6248400"/>
            <a:ext cx="2209800" cy="838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000" dirty="0" smtClean="0">
                <a:latin typeface="Calibri" panose="020F0502020204030204" pitchFamily="34" charset="0"/>
                <a:cs typeface="Calibri" panose="020F0502020204030204" pitchFamily="34" charset="0"/>
              </a:rPr>
              <a:t>Post. 11, 9)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4572000"/>
            <a:ext cx="8305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Na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celoj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zemlji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bejaše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samo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jedan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jezik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reči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jednake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bile. (...)</a:t>
            </a:r>
          </a:p>
          <a:p>
            <a:pPr algn="just"/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Posle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rekoše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Hajde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sazidamo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grad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kulu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čiji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će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vrh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do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neba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stići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,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stečemo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o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sebi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ime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se ne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bismo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rasejali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zemlji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. (...) I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Gospod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reče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Gle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ovi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su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svi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jedan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narod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svi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istim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jezikom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govore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to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oni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počeše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raditi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. Sad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im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neće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ništa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smetati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učine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sve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što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god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naume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Hajde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siđemo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im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pometemo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jezik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da ne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razume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jedan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drugoga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što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i="1" dirty="0" err="1">
                <a:latin typeface="Calibri" panose="020F0502020204030204" pitchFamily="34" charset="0"/>
                <a:cs typeface="Calibri" panose="020F0502020204030204" pitchFamily="34" charset="0"/>
              </a:rPr>
              <a:t>govori</a:t>
            </a:r>
            <a:r>
              <a:rPr lang="en-US" i="1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13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Alati za izgradnju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Veliki broj do sada razvijenih alata koji automatizuju izgradnju softvera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3"/>
          <a:stretch/>
        </p:blipFill>
        <p:spPr>
          <a:xfrm>
            <a:off x="1099457" y="2667000"/>
            <a:ext cx="5867400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61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Alati za izgradnju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Make</a:t>
            </a:r>
          </a:p>
          <a:p>
            <a:pPr lvl="1"/>
            <a:r>
              <a:rPr lang="sr-Latn-RS" dirty="0"/>
              <a:t>1976. razvijen</a:t>
            </a:r>
          </a:p>
          <a:p>
            <a:pPr lvl="1"/>
            <a:r>
              <a:rPr lang="sr-Latn-RS" dirty="0"/>
              <a:t>koristi se na UNIX-baziranim sistemima za automatizaciju poslova iz životnog ciklusa softvera</a:t>
            </a:r>
          </a:p>
          <a:p>
            <a:pPr lvl="1"/>
            <a:r>
              <a:rPr lang="sr-Latn-RS" dirty="0"/>
              <a:t>najviše se koristi za C i C++ programe</a:t>
            </a:r>
          </a:p>
          <a:p>
            <a:pPr lvl="1"/>
            <a:r>
              <a:rPr lang="sr-Latn-RS" dirty="0"/>
              <a:t>izgradnja se vrši na osnovu tekstualnog fajla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makefile</a:t>
            </a:r>
          </a:p>
          <a:p>
            <a:pPr lvl="1"/>
            <a:r>
              <a:rPr lang="sr-Latn-RS" dirty="0"/>
              <a:t>poseban jezik za definisanje akcija u </a:t>
            </a:r>
            <a:r>
              <a:rPr lang="sr-Latn-RS" i="1" dirty="0"/>
              <a:t>make</a:t>
            </a:r>
            <a:r>
              <a:rPr lang="sr-Latn-RS" dirty="0"/>
              <a:t> fajlu</a:t>
            </a:r>
          </a:p>
          <a:p>
            <a:pPr lvl="1"/>
            <a:r>
              <a:rPr lang="sr-Latn-RS" dirty="0"/>
              <a:t>Nije platformski nezavisan</a:t>
            </a:r>
          </a:p>
          <a:p>
            <a:pPr lvl="1"/>
            <a:r>
              <a:rPr lang="sr-Latn-RS" dirty="0"/>
              <a:t>Primer: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makefile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0081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Alati za izgradnju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Apache Ant</a:t>
            </a:r>
          </a:p>
          <a:p>
            <a:pPr lvl="1"/>
            <a:r>
              <a:rPr lang="sr-Latn-RS" dirty="0"/>
              <a:t>omogućuje specifikaciju ciljeva</a:t>
            </a:r>
            <a:r>
              <a:rPr lang="sr-Latn-RS" i="1" dirty="0"/>
              <a:t> </a:t>
            </a:r>
            <a:r>
              <a:rPr lang="sr-Latn-RS" dirty="0"/>
              <a:t>(</a:t>
            </a:r>
            <a:r>
              <a:rPr lang="sr-Latn-RS" i="1" dirty="0"/>
              <a:t>goals</a:t>
            </a:r>
            <a:r>
              <a:rPr lang="sr-Latn-RS" dirty="0"/>
              <a:t>) koji se automatizovano izvršavaju</a:t>
            </a:r>
          </a:p>
          <a:p>
            <a:pPr lvl="1"/>
            <a:r>
              <a:rPr lang="sr-Latn-RS" dirty="0"/>
              <a:t>ciljevi su proizvoljni programi</a:t>
            </a:r>
          </a:p>
          <a:p>
            <a:pPr lvl="1"/>
            <a:r>
              <a:rPr lang="sr-Latn-RS" dirty="0"/>
              <a:t>u XML fajlu se navodi koji ciljevi će se izvršiti u kojem redosledu</a:t>
            </a:r>
          </a:p>
          <a:p>
            <a:pPr lvl="1"/>
            <a:r>
              <a:rPr lang="sr-Latn-RS" dirty="0"/>
              <a:t>Ant je neutralan u pogledu značenja ciljeva</a:t>
            </a:r>
          </a:p>
          <a:p>
            <a:pPr lvl="2"/>
            <a:r>
              <a:rPr lang="sr-Latn-RS" dirty="0"/>
              <a:t>Nema svest o životnom ciklusu izgradnje projekta</a:t>
            </a:r>
          </a:p>
          <a:p>
            <a:pPr lvl="1"/>
            <a:r>
              <a:rPr lang="sr-Latn-RS" dirty="0"/>
              <a:t>iako nezavisan od </a:t>
            </a:r>
            <a:r>
              <a:rPr lang="sr-Latn-RS" dirty="0" smtClean="0"/>
              <a:t>konteksta</a:t>
            </a:r>
            <a:r>
              <a:rPr lang="sr-Latn-RS" dirty="0"/>
              <a:t>, uglavnom se koristi za izgradnju Java aplikacija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7750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Alati za izgradnju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Apache Maven</a:t>
            </a:r>
          </a:p>
          <a:p>
            <a:pPr lvl="1"/>
            <a:r>
              <a:rPr lang="sr-Latn-RS" dirty="0"/>
              <a:t>namenjen izgradnji i upravljanju Java projektima</a:t>
            </a:r>
          </a:p>
          <a:p>
            <a:pPr lvl="1"/>
            <a:r>
              <a:rPr lang="sr-Latn-RS" dirty="0"/>
              <a:t>fokus nije postavljen na generičnost (kao Ant), nego na dobru podršku standardnom životnom ciklusu Java projekta</a:t>
            </a:r>
          </a:p>
          <a:p>
            <a:pPr lvl="2"/>
            <a:r>
              <a:rPr lang="sr-Latn-RS" dirty="0"/>
              <a:t>predviđa da projekat poštuje određene konvencije</a:t>
            </a:r>
          </a:p>
          <a:p>
            <a:pPr lvl="2"/>
            <a:r>
              <a:rPr lang="sr-Latn-RS" dirty="0"/>
              <a:t>npr. nazivi foldera u kojima su delovi projekta smešteni</a:t>
            </a:r>
          </a:p>
          <a:p>
            <a:pPr lvl="1"/>
            <a:r>
              <a:rPr lang="sr-Latn-RS" dirty="0"/>
              <a:t>ugrađena podrška za standardne delove životnog ciklusa Java projekta </a:t>
            </a:r>
          </a:p>
          <a:p>
            <a:pPr lvl="2"/>
            <a:r>
              <a:rPr lang="sr-Latn-RS" dirty="0"/>
              <a:t>kompajliranje, pokretanje testova, kreiranje jar fajla, ...</a:t>
            </a:r>
          </a:p>
          <a:p>
            <a:pPr lvl="1"/>
            <a:r>
              <a:rPr lang="sr-Latn-RS" dirty="0"/>
              <a:t>nestandardne funkcionalnosti se mogu realizovati kao </a:t>
            </a:r>
            <a:r>
              <a:rPr lang="sr-Latn-RS" i="1" dirty="0"/>
              <a:t>plugin</a:t>
            </a:r>
          </a:p>
          <a:p>
            <a:pPr lvl="1"/>
            <a:r>
              <a:rPr lang="sr-Latn-RS" dirty="0"/>
              <a:t>koristi XML notaciju 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7511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Alati za izgradnju softvera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24800" cy="51054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Apache Gradle</a:t>
            </a:r>
          </a:p>
          <a:p>
            <a:pPr lvl="1"/>
            <a:r>
              <a:rPr lang="sr-Latn-RS" dirty="0"/>
              <a:t>kreiran sa namerom da ispravi nedostatke Apache Maven-a</a:t>
            </a:r>
          </a:p>
          <a:p>
            <a:pPr lvl="1"/>
            <a:r>
              <a:rPr lang="sr-Latn-RS" dirty="0"/>
              <a:t>koristi sopstveni jezik baziran na </a:t>
            </a:r>
            <a:r>
              <a:rPr lang="sr-Latn-RS" i="1" dirty="0"/>
              <a:t>Groovy</a:t>
            </a:r>
            <a:r>
              <a:rPr lang="sr-Latn-RS" dirty="0"/>
              <a:t> jeziku</a:t>
            </a:r>
          </a:p>
          <a:p>
            <a:pPr lvl="1"/>
            <a:r>
              <a:rPr lang="sr-Latn-RS" dirty="0"/>
              <a:t>kreiran kao alat opšte namene za izgradnju bilo kojeg projekta</a:t>
            </a:r>
          </a:p>
          <a:p>
            <a:pPr lvl="1"/>
            <a:r>
              <a:rPr lang="sr-Latn-RS" dirty="0"/>
              <a:t>različiti </a:t>
            </a:r>
            <a:r>
              <a:rPr lang="sr-Latn-RS" i="1" dirty="0"/>
              <a:t>plugin</a:t>
            </a:r>
            <a:r>
              <a:rPr lang="sr-Latn-RS" dirty="0"/>
              <a:t>-ovi za projekte u konkretnoj tehnologiji</a:t>
            </a:r>
          </a:p>
          <a:p>
            <a:pPr lvl="2"/>
            <a:r>
              <a:rPr lang="sr-Latn-RS" dirty="0"/>
              <a:t>npr Java plugin ima implementiran standardni životni ciklus izgradnje Java aplikacije</a:t>
            </a:r>
          </a:p>
          <a:p>
            <a:pPr lvl="1"/>
            <a:r>
              <a:rPr lang="sr-Latn-RS" dirty="0"/>
              <a:t>veća fleksibilnost za nestandardne funkcionalnosti u odnosu na Maven</a:t>
            </a:r>
          </a:p>
          <a:p>
            <a:pPr lvl="1"/>
            <a:r>
              <a:rPr lang="sr-Latn-RS" dirty="0"/>
              <a:t>Prepoznaje životni ciklus projekta (za razliku od Ant-a)</a:t>
            </a:r>
          </a:p>
          <a:p>
            <a:pPr lvl="1"/>
            <a:r>
              <a:rPr lang="sr-Latn-RS" dirty="0"/>
              <a:t>dobra integracija sa Apache Ant-om </a:t>
            </a:r>
          </a:p>
          <a:p>
            <a:pPr lvl="2"/>
            <a:r>
              <a:rPr lang="sr-Latn-RS" dirty="0"/>
              <a:t>moguće je direktno izvršiti Ant zadatke</a:t>
            </a:r>
          </a:p>
          <a:p>
            <a:pPr lvl="1"/>
            <a:r>
              <a:rPr lang="sr-Latn-RS" dirty="0"/>
              <a:t>koristi se kao osnovni alat za izgradnju Android projekata</a:t>
            </a:r>
          </a:p>
          <a:p>
            <a:pPr lvl="1"/>
            <a:endParaRPr lang="sr-Latn-R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7524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Primer Maven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Primeri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hellomaven</a:t>
            </a:r>
          </a:p>
          <a:p>
            <a:r>
              <a:rPr lang="en-US" dirty="0" err="1"/>
              <a:t>Svaka</a:t>
            </a:r>
            <a:r>
              <a:rPr lang="en-US" dirty="0"/>
              <a:t> </a:t>
            </a:r>
            <a:r>
              <a:rPr lang="en-US" dirty="0" err="1"/>
              <a:t>softverska</a:t>
            </a:r>
            <a:r>
              <a:rPr lang="en-US" dirty="0"/>
              <a:t> </a:t>
            </a:r>
            <a:r>
              <a:rPr lang="en-US" dirty="0" err="1"/>
              <a:t>jedinica</a:t>
            </a:r>
            <a:r>
              <a:rPr lang="en-US" dirty="0"/>
              <a:t> (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biblioteka</a:t>
            </a:r>
            <a:r>
              <a:rPr lang="en-US" dirty="0"/>
              <a:t>) je </a:t>
            </a:r>
            <a:r>
              <a:rPr lang="en-US" dirty="0" err="1"/>
              <a:t>jedan</a:t>
            </a:r>
            <a:r>
              <a:rPr lang="en-US" dirty="0"/>
              <a:t> </a:t>
            </a:r>
            <a:r>
              <a:rPr lang="en-US" dirty="0" err="1"/>
              <a:t>artefakt</a:t>
            </a:r>
            <a:endParaRPr lang="en-US" dirty="0"/>
          </a:p>
          <a:p>
            <a:pPr lvl="1"/>
            <a:r>
              <a:rPr lang="en-US" dirty="0" err="1"/>
              <a:t>ima</a:t>
            </a:r>
            <a:r>
              <a:rPr lang="en-US" dirty="0"/>
              <a:t> </a:t>
            </a:r>
            <a:r>
              <a:rPr lang="en-US" dirty="0" err="1"/>
              <a:t>svoj</a:t>
            </a:r>
            <a:r>
              <a:rPr lang="en-US" dirty="0"/>
              <a:t> </a:t>
            </a:r>
            <a:r>
              <a:rPr lang="en-US" dirty="0" err="1"/>
              <a:t>identifikator</a:t>
            </a:r>
            <a:endParaRPr lang="en-US" dirty="0"/>
          </a:p>
          <a:p>
            <a:pPr lvl="1"/>
            <a:r>
              <a:rPr lang="en-US" dirty="0" err="1"/>
              <a:t>artefakti</a:t>
            </a:r>
            <a:r>
              <a:rPr lang="en-US" dirty="0"/>
              <a:t> se </a:t>
            </a:r>
            <a:r>
              <a:rPr lang="en-US" dirty="0" err="1"/>
              <a:t>organizuju</a:t>
            </a:r>
            <a:r>
              <a:rPr lang="en-US" dirty="0"/>
              <a:t> u </a:t>
            </a:r>
            <a:r>
              <a:rPr lang="en-US" dirty="0" err="1"/>
              <a:t>grupe</a:t>
            </a:r>
            <a:endParaRPr lang="sr-Latn-RS" dirty="0"/>
          </a:p>
          <a:p>
            <a:r>
              <a:rPr lang="sr-Latn-RS" dirty="0"/>
              <a:t>Generisanje projekta</a:t>
            </a:r>
            <a:endParaRPr lang="en-US" dirty="0"/>
          </a:p>
          <a:p>
            <a:pPr marL="0" indent="0">
              <a:buNone/>
            </a:pPr>
            <a:r>
              <a:rPr lang="en-GB" dirty="0" err="1">
                <a:latin typeface="Courier New" pitchFamily="49" charset="0"/>
                <a:cs typeface="Courier New" pitchFamily="49" charset="0"/>
              </a:rPr>
              <a:t>mvn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archetype:generate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DgroupId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rs.ac.uns.ftn.kts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DartifactId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hellomaven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DarchetypeArtifactId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=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 			   	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mavenarchetype-quickstart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 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-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DinteractiveMode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=false</a:t>
            </a:r>
          </a:p>
        </p:txBody>
      </p:sp>
    </p:spTree>
    <p:extLst>
      <p:ext uri="{BB962C8B-B14F-4D97-AF65-F5344CB8AC3E}">
        <p14:creationId xmlns:p14="http://schemas.microsoft.com/office/powerpoint/2010/main" val="2215935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Primer Maven </a:t>
            </a:r>
            <a:r>
              <a:rPr lang="en-US" dirty="0" err="1"/>
              <a:t>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8001000" cy="5029200"/>
          </a:xfrm>
        </p:spPr>
        <p:txBody>
          <a:bodyPr>
            <a:normAutofit/>
          </a:bodyPr>
          <a:lstStyle/>
          <a:p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generisanje</a:t>
            </a:r>
            <a:r>
              <a:rPr lang="en-US" dirty="0"/>
              <a:t> Maven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zadu</a:t>
            </a:r>
            <a:r>
              <a:rPr lang="sr-Latn-RS" dirty="0"/>
              <a:t>žen je cilj </a:t>
            </a:r>
            <a:r>
              <a:rPr lang="sr-Latn-RS" i="1" dirty="0"/>
              <a:t>generate </a:t>
            </a:r>
            <a:r>
              <a:rPr lang="sr-Latn-RS" dirty="0"/>
              <a:t>iz </a:t>
            </a:r>
            <a:r>
              <a:rPr lang="sr-Latn-RS" i="1" dirty="0"/>
              <a:t>plugin</a:t>
            </a:r>
            <a:r>
              <a:rPr lang="sr-Latn-RS" dirty="0"/>
              <a:t>-a </a:t>
            </a:r>
            <a:r>
              <a:rPr lang="sr-Latn-RS" i="1" dirty="0"/>
              <a:t>archetype</a:t>
            </a:r>
          </a:p>
          <a:p>
            <a:pPr lvl="1"/>
            <a:r>
              <a:rPr lang="sr-Latn-RS" dirty="0"/>
              <a:t>generiše novi Maven projekat sa inicijalnim folderima i fajlovima</a:t>
            </a:r>
          </a:p>
          <a:p>
            <a:r>
              <a:rPr lang="sr-Latn-RS" dirty="0"/>
              <a:t>Automatski se vrši preuzimanje potrebnog </a:t>
            </a:r>
            <a:r>
              <a:rPr lang="sr-Latn-RS" i="1" dirty="0"/>
              <a:t>plugin-</a:t>
            </a:r>
            <a:r>
              <a:rPr lang="sr-Latn-RS" dirty="0"/>
              <a:t>a sa internet repozitorijuma</a:t>
            </a:r>
          </a:p>
          <a:p>
            <a:pPr lvl="1"/>
            <a:r>
              <a:rPr lang="sr-Latn-RS" dirty="0"/>
              <a:t>rekurzivno će se dalje preuzimati </a:t>
            </a:r>
            <a:r>
              <a:rPr lang="sr-Latn-RS" i="1" dirty="0"/>
              <a:t>plugin-</a:t>
            </a:r>
            <a:r>
              <a:rPr lang="sr-Latn-RS" dirty="0"/>
              <a:t>ovi od kojih </a:t>
            </a:r>
            <a:r>
              <a:rPr lang="sr-Latn-RS" i="1" dirty="0"/>
              <a:t>plugin</a:t>
            </a:r>
            <a:r>
              <a:rPr lang="sr-Latn-RS" dirty="0"/>
              <a:t> zavisi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10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Maven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Obavezna s</a:t>
            </a:r>
            <a:r>
              <a:rPr lang="en-US" dirty="0" err="1"/>
              <a:t>truktura</a:t>
            </a:r>
            <a:r>
              <a:rPr lang="en-US" dirty="0"/>
              <a:t> Maven </a:t>
            </a:r>
            <a:r>
              <a:rPr lang="en-US" dirty="0" err="1"/>
              <a:t>projekta</a:t>
            </a:r>
            <a:r>
              <a:rPr lang="sr-Latn-RS" dirty="0"/>
              <a:t> 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src/main/java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sr-Latn-RS" dirty="0"/>
              <a:t>izvorni kod aplikacije</a:t>
            </a:r>
            <a:endParaRPr lang="en-US" dirty="0"/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/main/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webapp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err="1"/>
              <a:t>izvorni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</a:t>
            </a:r>
            <a:r>
              <a:rPr lang="en-US" dirty="0" err="1"/>
              <a:t>veb</a:t>
            </a:r>
            <a:r>
              <a:rPr lang="en-US" dirty="0"/>
              <a:t> </a:t>
            </a:r>
            <a:r>
              <a:rPr lang="en-US" dirty="0" err="1"/>
              <a:t>aplikacije</a:t>
            </a:r>
            <a:endParaRPr lang="sr-Latn-RS" dirty="0"/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src/test/java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2"/>
            <a:r>
              <a:rPr lang="en-US" dirty="0" err="1"/>
              <a:t>izvorni</a:t>
            </a:r>
            <a:r>
              <a:rPr lang="en-US" dirty="0"/>
              <a:t> </a:t>
            </a:r>
            <a:r>
              <a:rPr lang="en-US" dirty="0" err="1"/>
              <a:t>kod</a:t>
            </a:r>
            <a:r>
              <a:rPr lang="en-US" dirty="0"/>
              <a:t> Java </a:t>
            </a:r>
            <a:r>
              <a:rPr lang="en-US" dirty="0" err="1"/>
              <a:t>testova</a:t>
            </a:r>
            <a:endParaRPr lang="en-US" dirty="0"/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/main/resources</a:t>
            </a:r>
          </a:p>
          <a:p>
            <a:pPr lvl="2"/>
            <a:r>
              <a:rPr lang="en-US" dirty="0" err="1"/>
              <a:t>dodatni</a:t>
            </a:r>
            <a:r>
              <a:rPr lang="en-US" dirty="0"/>
              <a:t> </a:t>
            </a:r>
            <a:r>
              <a:rPr lang="en-US" dirty="0" err="1"/>
              <a:t>fajlovi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koristi</a:t>
            </a:r>
            <a:r>
              <a:rPr lang="en-US" dirty="0"/>
              <a:t> </a:t>
            </a:r>
            <a:r>
              <a:rPr lang="en-US" dirty="0" err="1"/>
              <a:t>izvorni</a:t>
            </a:r>
            <a:r>
              <a:rPr lang="en-US" dirty="0"/>
              <a:t> </a:t>
            </a:r>
            <a:r>
              <a:rPr lang="en-US" dirty="0" err="1"/>
              <a:t>kod</a:t>
            </a:r>
            <a:endParaRPr lang="sr-Latn-RS" dirty="0"/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src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/test/resources</a:t>
            </a:r>
          </a:p>
          <a:p>
            <a:pPr lvl="2"/>
            <a:r>
              <a:rPr lang="en-US" dirty="0" err="1"/>
              <a:t>dodatni</a:t>
            </a:r>
            <a:r>
              <a:rPr lang="en-US" dirty="0"/>
              <a:t> </a:t>
            </a:r>
            <a:r>
              <a:rPr lang="en-US" dirty="0" err="1"/>
              <a:t>fajlovi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koriste</a:t>
            </a:r>
            <a:r>
              <a:rPr lang="en-US" dirty="0"/>
              <a:t> </a:t>
            </a:r>
            <a:r>
              <a:rPr lang="en-US" dirty="0" err="1"/>
              <a:t>testovi</a:t>
            </a:r>
            <a:endParaRPr lang="sr-Latn-RS" dirty="0"/>
          </a:p>
          <a:p>
            <a:pPr lvl="1"/>
            <a:r>
              <a:rPr lang="en-US" dirty="0">
                <a:latin typeface="Courier New" pitchFamily="49" charset="0"/>
                <a:cs typeface="Courier New" pitchFamily="49" charset="0"/>
              </a:rPr>
              <a:t>pom.xml</a:t>
            </a:r>
          </a:p>
          <a:p>
            <a:pPr lvl="2"/>
            <a:r>
              <a:rPr lang="en-US" dirty="0" err="1"/>
              <a:t>konfiguracioni</a:t>
            </a:r>
            <a:r>
              <a:rPr lang="en-US" dirty="0"/>
              <a:t> </a:t>
            </a:r>
            <a:r>
              <a:rPr lang="en-US" dirty="0" err="1"/>
              <a:t>fajl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opisuje</a:t>
            </a:r>
            <a:r>
              <a:rPr lang="en-US" dirty="0"/>
              <a:t> Maven </a:t>
            </a:r>
            <a:r>
              <a:rPr lang="en-US" dirty="0" err="1"/>
              <a:t>projekat</a:t>
            </a:r>
            <a:endParaRPr lang="en-US" dirty="0"/>
          </a:p>
          <a:p>
            <a:pPr lvl="2"/>
            <a:r>
              <a:rPr lang="sr-Latn-RS" dirty="0"/>
              <a:t>definiše kako će </a:t>
            </a:r>
            <a:r>
              <a:rPr lang="en-US" dirty="0"/>
              <a:t>Maven </a:t>
            </a:r>
            <a:r>
              <a:rPr lang="sr-Latn-RS" dirty="0"/>
              <a:t>da </a:t>
            </a:r>
            <a:r>
              <a:rPr lang="en-US" dirty="0" err="1"/>
              <a:t>upravlja</a:t>
            </a:r>
            <a:r>
              <a:rPr lang="en-US" dirty="0"/>
              <a:t> </a:t>
            </a:r>
            <a:r>
              <a:rPr lang="en-US" dirty="0" err="1"/>
              <a:t>projektom</a:t>
            </a:r>
            <a:endParaRPr lang="en-US" dirty="0"/>
          </a:p>
          <a:p>
            <a:pPr lvl="2"/>
            <a:endParaRPr lang="en-US" dirty="0"/>
          </a:p>
          <a:p>
            <a:pPr lvl="1"/>
            <a:endParaRPr lang="sr-Latn-R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6044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Maven životni ciklus izgradnje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Maven se zasniva na tome da postoji životni ciklus izgradnje projekta</a:t>
            </a:r>
          </a:p>
          <a:p>
            <a:pPr lvl="1"/>
            <a:r>
              <a:rPr lang="sr-Latn-RS" dirty="0"/>
              <a:t>jasno definisan proces koji se sastoji od faza</a:t>
            </a:r>
          </a:p>
          <a:p>
            <a:r>
              <a:rPr lang="sr-Latn-RS" dirty="0"/>
              <a:t>Svaka faza ima jasnu ulogu u životnom ciklusu</a:t>
            </a:r>
          </a:p>
          <a:p>
            <a:r>
              <a:rPr lang="sr-Latn-RS" dirty="0"/>
              <a:t>U svakoj fazi se mogu izvršiti jedan ili više ciljeva </a:t>
            </a:r>
          </a:p>
          <a:p>
            <a:r>
              <a:rPr lang="sr-Latn-RS" dirty="0"/>
              <a:t>Ciljevi su konkretne operacije nad projektom</a:t>
            </a:r>
          </a:p>
          <a:p>
            <a:pPr lvl="1"/>
            <a:r>
              <a:rPr lang="sr-Latn-RS" dirty="0"/>
              <a:t>kompajliranje, izvršavanje testova, pakovanje, ...</a:t>
            </a:r>
          </a:p>
        </p:txBody>
      </p:sp>
    </p:spTree>
    <p:extLst>
      <p:ext uri="{BB962C8B-B14F-4D97-AF65-F5344CB8AC3E}">
        <p14:creationId xmlns:p14="http://schemas.microsoft.com/office/powerpoint/2010/main" val="41584566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Ugrađeni životni ciklusi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Postoje tri predefinisana ugrađena životna ciklusa</a:t>
            </a:r>
          </a:p>
          <a:p>
            <a:pPr lvl="1"/>
            <a:r>
              <a:rPr lang="sr-Latn-RS" i="1" dirty="0"/>
              <a:t>default</a:t>
            </a:r>
          </a:p>
          <a:p>
            <a:pPr lvl="2"/>
            <a:r>
              <a:rPr lang="sr-Latn-RS" dirty="0"/>
              <a:t>sadrži faze vezane za izgradnju i postavljanje projekta</a:t>
            </a:r>
          </a:p>
          <a:p>
            <a:pPr lvl="1"/>
            <a:r>
              <a:rPr lang="sr-Latn-RS" i="1" dirty="0"/>
              <a:t>clean</a:t>
            </a:r>
            <a:endParaRPr lang="sr-Latn-RS" dirty="0"/>
          </a:p>
          <a:p>
            <a:pPr lvl="2"/>
            <a:r>
              <a:rPr lang="sr-Latn-RS" dirty="0"/>
              <a:t>uklanjanje fajlova i foldera koje je Maven kreirao tokom izgradnje projekta</a:t>
            </a:r>
          </a:p>
          <a:p>
            <a:pPr lvl="1"/>
            <a:r>
              <a:rPr lang="sr-Latn-RS" i="1" dirty="0"/>
              <a:t>site</a:t>
            </a:r>
          </a:p>
          <a:p>
            <a:pPr lvl="2"/>
            <a:r>
              <a:rPr lang="sr-Latn-RS" dirty="0"/>
              <a:t>generisanje projektne dokumentacije</a:t>
            </a:r>
          </a:p>
        </p:txBody>
      </p:sp>
    </p:spTree>
    <p:extLst>
      <p:ext uri="{BB962C8B-B14F-4D97-AF65-F5344CB8AC3E}">
        <p14:creationId xmlns:p14="http://schemas.microsoft.com/office/powerpoint/2010/main" val="9086997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/>
              <a:t>Default </a:t>
            </a:r>
            <a:r>
              <a:rPr lang="sr-Latn-RS" dirty="0"/>
              <a:t>životni ciklus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92500" lnSpcReduction="10000"/>
          </a:bodyPr>
          <a:lstStyle/>
          <a:p>
            <a:r>
              <a:rPr lang="sr-Latn-RS" dirty="0"/>
              <a:t>Sastoji se od sledećih faza</a:t>
            </a:r>
          </a:p>
          <a:p>
            <a:pPr lvl="1"/>
            <a:r>
              <a:rPr lang="sr-Latn-RS" i="1" dirty="0"/>
              <a:t>validate</a:t>
            </a:r>
          </a:p>
          <a:p>
            <a:pPr lvl="2"/>
            <a:r>
              <a:rPr lang="sr-Latn-RS" dirty="0"/>
              <a:t>provera da li su sve informacije o projektu dostupne i ispravne</a:t>
            </a:r>
          </a:p>
          <a:p>
            <a:pPr lvl="1"/>
            <a:r>
              <a:rPr lang="sr-Latn-RS" i="1" dirty="0"/>
              <a:t>process-resources</a:t>
            </a:r>
          </a:p>
          <a:p>
            <a:pPr lvl="2"/>
            <a:r>
              <a:rPr lang="sr-Latn-RS" dirty="0"/>
              <a:t>kopiranje resursa projekta na destinaciju za izgradnju</a:t>
            </a:r>
          </a:p>
          <a:p>
            <a:pPr lvl="1"/>
            <a:r>
              <a:rPr lang="sr-Latn-RS" i="1" dirty="0"/>
              <a:t>compile</a:t>
            </a:r>
          </a:p>
          <a:p>
            <a:pPr lvl="2"/>
            <a:r>
              <a:rPr lang="sr-Latn-RS" dirty="0"/>
              <a:t>kompajliranje izvornog koda</a:t>
            </a:r>
          </a:p>
          <a:p>
            <a:pPr lvl="1"/>
            <a:r>
              <a:rPr lang="sr-Latn-RS" i="1" dirty="0"/>
              <a:t>test</a:t>
            </a:r>
          </a:p>
          <a:p>
            <a:pPr lvl="2"/>
            <a:r>
              <a:rPr lang="sr-Latn-RS" dirty="0"/>
              <a:t>izvršavanje jediničnih testova </a:t>
            </a:r>
          </a:p>
          <a:p>
            <a:pPr lvl="1"/>
            <a:r>
              <a:rPr lang="sr-Latn-RS" i="1" dirty="0"/>
              <a:t>package</a:t>
            </a:r>
          </a:p>
          <a:p>
            <a:pPr lvl="2"/>
            <a:r>
              <a:rPr lang="sr-Latn-RS" dirty="0"/>
              <a:t>pakovanje kompajliranog koda u format za distribuciju</a:t>
            </a:r>
          </a:p>
          <a:p>
            <a:pPr lvl="1"/>
            <a:r>
              <a:rPr lang="sr-Latn-RS" i="1" dirty="0"/>
              <a:t>integration-test</a:t>
            </a:r>
          </a:p>
          <a:p>
            <a:pPr lvl="2"/>
            <a:r>
              <a:rPr lang="sr-Latn-RS" dirty="0"/>
              <a:t>postavlja paket u okruženje u kojem se mogu izvršiti integracioni testovi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7313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i="1" dirty="0"/>
              <a:t>Default </a:t>
            </a:r>
            <a:r>
              <a:rPr lang="sr-Latn-RS" dirty="0"/>
              <a:t>životni ciklus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Sastoji se od sledećih faza (nastavak sa prethodnog slajda):</a:t>
            </a:r>
          </a:p>
          <a:p>
            <a:pPr lvl="1"/>
            <a:r>
              <a:rPr lang="sr-Latn-RS" dirty="0"/>
              <a:t> </a:t>
            </a:r>
            <a:r>
              <a:rPr lang="sr-Latn-RS" i="1" dirty="0"/>
              <a:t>verify</a:t>
            </a:r>
          </a:p>
          <a:p>
            <a:pPr lvl="2"/>
            <a:r>
              <a:rPr lang="sr-Latn-RS" dirty="0"/>
              <a:t>provera da li je paket ispravan</a:t>
            </a:r>
          </a:p>
          <a:p>
            <a:pPr lvl="1"/>
            <a:r>
              <a:rPr lang="sr-Latn-RS" i="1" dirty="0"/>
              <a:t>install</a:t>
            </a:r>
          </a:p>
          <a:p>
            <a:pPr lvl="2"/>
            <a:r>
              <a:rPr lang="sr-Latn-RS" dirty="0"/>
              <a:t>instaliranje paketa u lokalni repozitorijum da bude dostupan drugim lokalnim projektima</a:t>
            </a:r>
          </a:p>
          <a:p>
            <a:pPr lvl="1"/>
            <a:r>
              <a:rPr lang="sr-Latn-RS" i="1" dirty="0"/>
              <a:t>deploy</a:t>
            </a:r>
          </a:p>
          <a:p>
            <a:pPr lvl="2"/>
            <a:r>
              <a:rPr lang="sr-Latn-RS" dirty="0"/>
              <a:t>postavljanje paketa u udaljeni repozitorijum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7102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Maven ciljevi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Za svaku fazu vezan je jedan ili više ciljeva koji se izvršavaju u toj fazi</a:t>
            </a:r>
          </a:p>
          <a:p>
            <a:r>
              <a:rPr lang="sr-Latn-RS" dirty="0"/>
              <a:t>Ciljevi su definisani u određenom </a:t>
            </a:r>
            <a:r>
              <a:rPr lang="sr-Latn-RS" i="1" dirty="0"/>
              <a:t>plugin</a:t>
            </a:r>
            <a:r>
              <a:rPr lang="sr-Latn-RS" dirty="0"/>
              <a:t>-u</a:t>
            </a:r>
          </a:p>
          <a:p>
            <a:r>
              <a:rPr lang="sr-Latn-RS" dirty="0"/>
              <a:t>npr. u </a:t>
            </a:r>
            <a:r>
              <a:rPr lang="sr-Latn-RS" i="1" dirty="0"/>
              <a:t>compile </a:t>
            </a:r>
            <a:r>
              <a:rPr lang="sr-Latn-RS" dirty="0"/>
              <a:t>fazi se izvršava </a:t>
            </a:r>
            <a:r>
              <a:rPr lang="sr-Latn-RS" i="1" dirty="0"/>
              <a:t>compile</a:t>
            </a:r>
            <a:r>
              <a:rPr lang="sr-Latn-RS" dirty="0"/>
              <a:t> cilj iz </a:t>
            </a:r>
            <a:r>
              <a:rPr lang="sr-Latn-RS" i="1" dirty="0"/>
              <a:t>plugin</a:t>
            </a:r>
            <a:r>
              <a:rPr lang="sr-Latn-RS" dirty="0"/>
              <a:t>-a </a:t>
            </a:r>
            <a:r>
              <a:rPr lang="sr-Latn-RS" i="1" dirty="0"/>
              <a:t>Compiler</a:t>
            </a:r>
          </a:p>
          <a:p>
            <a:r>
              <a:rPr lang="sr-Latn-RS" dirty="0"/>
              <a:t>postoji javni repozitorijum </a:t>
            </a:r>
            <a:r>
              <a:rPr lang="sr-Latn-RS" i="1" dirty="0"/>
              <a:t>plugin</a:t>
            </a:r>
            <a:r>
              <a:rPr lang="sr-Latn-RS" dirty="0"/>
              <a:t>-ova odakle se </a:t>
            </a:r>
            <a:r>
              <a:rPr lang="sr-Latn-RS" i="1" dirty="0"/>
              <a:t>plugin </a:t>
            </a:r>
            <a:r>
              <a:rPr lang="sr-Latn-RS" dirty="0"/>
              <a:t>automatski preuzima kada je potreban u projektu</a:t>
            </a:r>
            <a:endParaRPr lang="sr-Latn-RS" i="1" dirty="0"/>
          </a:p>
          <a:p>
            <a:endParaRPr lang="sr-Latn-RS" dirty="0"/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23679009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Maven ciljevi po fazama</a:t>
            </a:r>
            <a:endParaRPr lang="en-GB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228939662"/>
              </p:ext>
            </p:extLst>
          </p:nvPr>
        </p:nvGraphicFramePr>
        <p:xfrm>
          <a:off x="685800" y="1905000"/>
          <a:ext cx="7772400" cy="36068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908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Faza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Plugin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sr-Latn-RS" dirty="0"/>
                        <a:t>Cilj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i="1" dirty="0"/>
                        <a:t>clean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Clean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clean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site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Site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site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process-resources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Resources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resource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compile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Compiler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compile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test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Surefire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/>
                        <a:t>test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/>
                        <a:t>package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0" dirty="0" err="1"/>
                        <a:t>Zavisi</a:t>
                      </a:r>
                      <a:r>
                        <a:rPr lang="en-US" i="0" baseline="0" dirty="0"/>
                        <a:t> od </a:t>
                      </a:r>
                      <a:r>
                        <a:rPr lang="en-US" i="0" baseline="0" dirty="0" err="1"/>
                        <a:t>na</a:t>
                      </a:r>
                      <a:r>
                        <a:rPr lang="sr-Latn-RS" i="0" baseline="0" dirty="0"/>
                        <a:t>čina pakovanja (npr. </a:t>
                      </a:r>
                      <a:r>
                        <a:rPr lang="sr-Latn-RS" i="1" baseline="0" dirty="0"/>
                        <a:t>JAR</a:t>
                      </a:r>
                      <a:r>
                        <a:rPr lang="sr-Latn-RS" i="0" baseline="0" dirty="0"/>
                        <a:t>)</a:t>
                      </a:r>
                      <a:endParaRPr lang="en-GB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i="1" dirty="0"/>
                        <a:t>jar</a:t>
                      </a:r>
                      <a:r>
                        <a:rPr lang="sr-Latn-RS" i="0" dirty="0"/>
                        <a:t> (ako koristimo</a:t>
                      </a:r>
                      <a:r>
                        <a:rPr lang="sr-Latn-RS" i="1" dirty="0"/>
                        <a:t> JAR plugin</a:t>
                      </a:r>
                      <a:r>
                        <a:rPr lang="sr-Latn-RS" i="0" dirty="0"/>
                        <a:t>)</a:t>
                      </a:r>
                      <a:endParaRPr lang="en-GB" i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i="1" dirty="0"/>
                        <a:t>install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i="1" dirty="0"/>
                        <a:t>Install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i="1" dirty="0"/>
                        <a:t>install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sr-Latn-RS" i="1" dirty="0"/>
                        <a:t>deploy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i="1" dirty="0"/>
                        <a:t>Deploy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r-Latn-RS" i="1" dirty="0"/>
                        <a:t>deploy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2346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Izgradnja projekta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Izgradnja projekta vrši se navođenjem faze životnog ciklusa koju treba izvršiti</a:t>
            </a:r>
          </a:p>
          <a:p>
            <a:pPr lvl="1"/>
            <a:r>
              <a:rPr lang="sr-Latn-RS" dirty="0"/>
              <a:t>automatski se izvršavaju sve faze koje prethode toj fazi u životnom ciklusu</a:t>
            </a:r>
          </a:p>
          <a:p>
            <a:pPr lvl="1"/>
            <a:r>
              <a:rPr lang="sr-Latn-RS" dirty="0"/>
              <a:t>Npr.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mvn package </a:t>
            </a:r>
            <a:r>
              <a:rPr lang="sr-Latn-RS" dirty="0">
                <a:cs typeface="Courier New" pitchFamily="49" charset="0"/>
              </a:rPr>
              <a:t>izvršava operacije iz faze </a:t>
            </a:r>
            <a:r>
              <a:rPr lang="sr-Latn-RS" i="1" dirty="0">
                <a:cs typeface="Courier New" pitchFamily="49" charset="0"/>
              </a:rPr>
              <a:t>package</a:t>
            </a:r>
            <a:r>
              <a:rPr lang="sr-Latn-RS" dirty="0">
                <a:cs typeface="Courier New" pitchFamily="49" charset="0"/>
              </a:rPr>
              <a:t> i svih faza koje joj prethode u </a:t>
            </a:r>
            <a:r>
              <a:rPr lang="sr-Latn-RS" i="1" dirty="0">
                <a:cs typeface="Courier New" pitchFamily="49" charset="0"/>
              </a:rPr>
              <a:t>default </a:t>
            </a:r>
            <a:r>
              <a:rPr lang="sr-Latn-RS" dirty="0">
                <a:cs typeface="Courier New" pitchFamily="49" charset="0"/>
              </a:rPr>
              <a:t>životnom ciklusu</a:t>
            </a:r>
          </a:p>
          <a:p>
            <a:pPr lvl="1"/>
            <a:r>
              <a:rPr lang="sr-Latn-RS" dirty="0">
                <a:cs typeface="Courier New" pitchFamily="49" charset="0"/>
              </a:rPr>
              <a:t>Može i više faza da se navede</a:t>
            </a:r>
          </a:p>
          <a:p>
            <a:pPr lvl="2"/>
            <a:r>
              <a:rPr lang="sr-Latn-RS" dirty="0">
                <a:cs typeface="Courier New" pitchFamily="49" charset="0"/>
              </a:rPr>
              <a:t>npr.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mvn clean package</a:t>
            </a:r>
          </a:p>
          <a:p>
            <a:pPr lvl="2"/>
            <a:r>
              <a:rPr lang="sr-Latn-RS" dirty="0">
                <a:cs typeface="Courier New" pitchFamily="49" charset="0"/>
              </a:rPr>
              <a:t>Svaka faza izvršava i sve one koje joj prethode u životnom ciklusu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7382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pom</a:t>
            </a:r>
            <a:r>
              <a:rPr lang="en-US" dirty="0"/>
              <a:t> </a:t>
            </a:r>
            <a:r>
              <a:rPr lang="en-US" dirty="0" err="1"/>
              <a:t>fajla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modelVersion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lvl="1"/>
            <a:r>
              <a:rPr lang="en-US" dirty="0" err="1"/>
              <a:t>verzija</a:t>
            </a:r>
            <a:r>
              <a:rPr lang="en-US" dirty="0"/>
              <a:t> </a:t>
            </a:r>
            <a:r>
              <a:rPr lang="en-US" dirty="0" err="1"/>
              <a:t>pom</a:t>
            </a:r>
            <a:r>
              <a:rPr lang="en-US" dirty="0"/>
              <a:t> </a:t>
            </a:r>
            <a:r>
              <a:rPr lang="en-US" dirty="0" err="1"/>
              <a:t>modela</a:t>
            </a:r>
            <a:endParaRPr lang="en-US" dirty="0"/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groupId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err="1"/>
              <a:t>oznaka</a:t>
            </a:r>
            <a:r>
              <a:rPr lang="en-US" dirty="0"/>
              <a:t> </a:t>
            </a:r>
            <a:r>
              <a:rPr lang="en-US" dirty="0" err="1"/>
              <a:t>organizacije</a:t>
            </a:r>
            <a:r>
              <a:rPr lang="en-US" dirty="0"/>
              <a:t> </a:t>
            </a:r>
            <a:r>
              <a:rPr lang="en-US" dirty="0" err="1"/>
              <a:t>kojoj</a:t>
            </a:r>
            <a:r>
              <a:rPr lang="en-US" dirty="0"/>
              <a:t>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pripada</a:t>
            </a:r>
            <a:endParaRPr lang="en-US" dirty="0"/>
          </a:p>
          <a:p>
            <a:pPr lvl="1"/>
            <a:r>
              <a:rPr lang="en-US" dirty="0" err="1"/>
              <a:t>naj</a:t>
            </a:r>
            <a:r>
              <a:rPr lang="sr-Latn-RS" dirty="0"/>
              <a:t>češće reverzno ime domena organizacije</a:t>
            </a:r>
            <a:endParaRPr lang="en-US" dirty="0"/>
          </a:p>
          <a:p>
            <a:r>
              <a:rPr lang="en-US" dirty="0" err="1">
                <a:latin typeface="Courier New" pitchFamily="49" charset="0"/>
                <a:cs typeface="Courier New" pitchFamily="49" charset="0"/>
              </a:rPr>
              <a:t>artifactId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dirty="0"/>
              <a:t>naziv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sr-Latn-RS" dirty="0"/>
          </a:p>
          <a:p>
            <a:r>
              <a:rPr lang="sr-Latn-RS" dirty="0">
                <a:latin typeface="Courier New" pitchFamily="49" charset="0"/>
                <a:cs typeface="Courier New" pitchFamily="49" charset="0"/>
              </a:rPr>
              <a:t>version</a:t>
            </a:r>
          </a:p>
          <a:p>
            <a:pPr lvl="1"/>
            <a:r>
              <a:rPr lang="sr-Latn-RS" dirty="0"/>
              <a:t>trenutna verzija izvornog koda</a:t>
            </a:r>
          </a:p>
          <a:p>
            <a:pPr lvl="1"/>
            <a:r>
              <a:rPr lang="sr-Latn-RS" dirty="0"/>
              <a:t>zajedno sa groupId i artifactId identifikuje projekat</a:t>
            </a:r>
          </a:p>
          <a:p>
            <a:pPr lvl="2"/>
            <a:r>
              <a:rPr lang="sr-Latn-RS" dirty="0"/>
              <a:t>to se naziva koordinate projekta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83557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Struktura pom fajla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 lnSpcReduction="10000"/>
          </a:bodyPr>
          <a:lstStyle/>
          <a:p>
            <a:r>
              <a:rPr lang="sr-Latn-RS" dirty="0">
                <a:latin typeface="Courier New" pitchFamily="49" charset="0"/>
                <a:cs typeface="Courier New" pitchFamily="49" charset="0"/>
              </a:rPr>
              <a:t>packaging</a:t>
            </a:r>
          </a:p>
          <a:p>
            <a:pPr lvl="1"/>
            <a:r>
              <a:rPr lang="sr-Latn-RS" dirty="0"/>
              <a:t>izlazni format pri izgradnji projekta</a:t>
            </a:r>
          </a:p>
          <a:p>
            <a:pPr lvl="1"/>
            <a:r>
              <a:rPr lang="sr-Latn-RS" dirty="0"/>
              <a:t>najčešće jar, war, ear, zip, ...</a:t>
            </a:r>
          </a:p>
          <a:p>
            <a:r>
              <a:rPr lang="sr-Latn-RS" dirty="0">
                <a:latin typeface="Courier New" pitchFamily="49" charset="0"/>
                <a:cs typeface="Courier New" pitchFamily="49" charset="0"/>
              </a:rPr>
              <a:t>dependencies</a:t>
            </a:r>
          </a:p>
          <a:p>
            <a:pPr lvl="1"/>
            <a:r>
              <a:rPr lang="sr-Latn-RS" dirty="0"/>
              <a:t>projekti neophodni za izgradnju ovog projekta</a:t>
            </a:r>
          </a:p>
          <a:p>
            <a:pPr lvl="1"/>
            <a:r>
              <a:rPr lang="sr-Latn-RS" dirty="0" smtClean="0"/>
              <a:t>najčešće </a:t>
            </a:r>
            <a:r>
              <a:rPr lang="sr-Latn-RS" i="1" dirty="0"/>
              <a:t>third-party </a:t>
            </a:r>
            <a:r>
              <a:rPr lang="sr-Latn-RS" dirty="0"/>
              <a:t>biblioteke potrebne za kompajliranje i izvršavanje</a:t>
            </a:r>
          </a:p>
          <a:p>
            <a:pPr lvl="1"/>
            <a:r>
              <a:rPr lang="sr-Latn-RS" dirty="0"/>
              <a:t>maven ih automatski dobavlja iz javnog repozitorijuma</a:t>
            </a:r>
          </a:p>
          <a:p>
            <a:r>
              <a:rPr lang="sr-Latn-RS" dirty="0">
                <a:latin typeface="Courier New" pitchFamily="49" charset="0"/>
                <a:cs typeface="Courier New" pitchFamily="49" charset="0"/>
              </a:rPr>
              <a:t>parent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en-US" dirty="0" err="1">
                <a:cs typeface="Courier New" pitchFamily="49" charset="0"/>
              </a:rPr>
              <a:t>omogu</a:t>
            </a:r>
            <a:r>
              <a:rPr lang="sr-Latn-RS" dirty="0">
                <a:cs typeface="Courier New" pitchFamily="49" charset="0"/>
              </a:rPr>
              <a:t>ćuje nasleđivanje pom fajla</a:t>
            </a:r>
          </a:p>
          <a:p>
            <a:pPr lvl="1"/>
            <a:r>
              <a:rPr lang="sr-Latn-RS" dirty="0"/>
              <a:t>oznaka roditeljskog projekta</a:t>
            </a:r>
          </a:p>
          <a:p>
            <a:pPr lvl="1"/>
            <a:r>
              <a:rPr lang="sr-Latn-RS" dirty="0"/>
              <a:t>projekat nasleđuje podatke iz pom fajla roditelja</a:t>
            </a:r>
          </a:p>
        </p:txBody>
      </p:sp>
    </p:spTree>
    <p:extLst>
      <p:ext uri="{BB962C8B-B14F-4D97-AF65-F5344CB8AC3E}">
        <p14:creationId xmlns:p14="http://schemas.microsoft.com/office/powerpoint/2010/main" val="2803038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Struktura pom fajla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>
                <a:latin typeface="Courier New" pitchFamily="49" charset="0"/>
                <a:cs typeface="Courier New" pitchFamily="49" charset="0"/>
              </a:rPr>
              <a:t>properties</a:t>
            </a:r>
          </a:p>
          <a:p>
            <a:pPr lvl="1"/>
            <a:r>
              <a:rPr lang="sr-Latn-RS" dirty="0"/>
              <a:t>dinamičke promenljive u pom fajlu</a:t>
            </a:r>
          </a:p>
          <a:p>
            <a:pPr lvl="1"/>
            <a:r>
              <a:rPr lang="sr-Latn-RS" dirty="0"/>
              <a:t>Zadaju se u formatu </a:t>
            </a:r>
          </a:p>
          <a:p>
            <a:pPr lvl="2"/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imePromenljive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vrednost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imePromenljive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r>
              <a:rPr lang="en-US" dirty="0"/>
              <a:t>Primer</a:t>
            </a:r>
          </a:p>
          <a:p>
            <a:pPr lvl="2"/>
            <a:r>
              <a:rPr lang="en-US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junitVersion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&gt;3.8.1&lt;/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junitVersion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r>
              <a:rPr lang="en-US" dirty="0" err="1"/>
              <a:t>Promenljiva</a:t>
            </a:r>
            <a:r>
              <a:rPr lang="en-US" dirty="0"/>
              <a:t> se </a:t>
            </a:r>
            <a:r>
              <a:rPr lang="en-US" dirty="0" err="1"/>
              <a:t>referencira</a:t>
            </a:r>
            <a:r>
              <a:rPr lang="en-US" dirty="0"/>
              <a:t> u </a:t>
            </a:r>
            <a:r>
              <a:rPr lang="en-US" dirty="0" err="1"/>
              <a:t>fajlu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ovaj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sr-Latn-RS" dirty="0"/>
              <a:t>čin</a:t>
            </a:r>
          </a:p>
          <a:p>
            <a:pPr lvl="2"/>
            <a:r>
              <a:rPr lang="sr-Latn-RS" dirty="0"/>
              <a:t>$</a:t>
            </a:r>
            <a:r>
              <a:rPr lang="en-US" dirty="0"/>
              <a:t>{</a:t>
            </a:r>
            <a:r>
              <a:rPr lang="en-US" dirty="0" err="1"/>
              <a:t>imePromenljive</a:t>
            </a:r>
            <a:r>
              <a:rPr lang="en-US" dirty="0"/>
              <a:t>}</a:t>
            </a:r>
          </a:p>
          <a:p>
            <a:pPr lvl="1"/>
            <a:r>
              <a:rPr lang="en-US" dirty="0"/>
              <a:t>Primer</a:t>
            </a:r>
          </a:p>
          <a:p>
            <a:pPr marL="594360" lvl="2" indent="0"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&lt;dependency&gt;</a:t>
            </a:r>
          </a:p>
          <a:p>
            <a:pPr marL="594360" lvl="2" indent="0"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	&lt;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junit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94360" lvl="2" indent="0"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&lt;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junit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594360" lvl="2" indent="0"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&lt;version&gt;${</a:t>
            </a:r>
            <a:r>
              <a:rPr lang="en-GB" b="1" dirty="0" err="1">
                <a:latin typeface="Courier New" pitchFamily="49" charset="0"/>
                <a:cs typeface="Courier New" pitchFamily="49" charset="0"/>
              </a:rPr>
              <a:t>junitVersion</a:t>
            </a:r>
            <a:r>
              <a:rPr lang="en-GB" b="1" dirty="0">
                <a:latin typeface="Courier New" pitchFamily="49" charset="0"/>
                <a:cs typeface="Courier New" pitchFamily="49" charset="0"/>
              </a:rPr>
              <a:t>}&lt;/version&gt;</a:t>
            </a:r>
          </a:p>
          <a:p>
            <a:pPr marL="594360" lvl="2" indent="0"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  &lt;scope&gt;test&lt;/scope&gt;</a:t>
            </a:r>
          </a:p>
          <a:p>
            <a:pPr marL="594360" lvl="2" indent="0"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23033356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Struktura</a:t>
            </a:r>
            <a:r>
              <a:rPr lang="en-US" dirty="0"/>
              <a:t> </a:t>
            </a:r>
            <a:r>
              <a:rPr lang="en-US" dirty="0" err="1"/>
              <a:t>pom</a:t>
            </a:r>
            <a:r>
              <a:rPr lang="en-US" dirty="0"/>
              <a:t> </a:t>
            </a:r>
            <a:r>
              <a:rPr lang="en-US" dirty="0" err="1"/>
              <a:t>fajla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>
                <a:latin typeface="Courier New" pitchFamily="49" charset="0"/>
                <a:cs typeface="Courier New" pitchFamily="49" charset="0"/>
              </a:rPr>
              <a:t>modules</a:t>
            </a:r>
          </a:p>
          <a:p>
            <a:pPr lvl="1"/>
            <a:r>
              <a:rPr lang="en-US" dirty="0" err="1"/>
              <a:t>Spisak</a:t>
            </a:r>
            <a:r>
              <a:rPr lang="en-US" dirty="0"/>
              <a:t> </a:t>
            </a:r>
            <a:r>
              <a:rPr lang="en-US" dirty="0" err="1"/>
              <a:t>potprojekata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</a:t>
            </a:r>
            <a:r>
              <a:rPr lang="en-US" dirty="0" err="1"/>
              <a:t>ovaj</a:t>
            </a:r>
            <a:r>
              <a:rPr lang="en-US" dirty="0"/>
              <a:t> p</a:t>
            </a:r>
            <a:r>
              <a:rPr lang="sr-Latn-RS" dirty="0"/>
              <a:t>rojekat</a:t>
            </a:r>
            <a:r>
              <a:rPr lang="en-US" dirty="0"/>
              <a:t> </a:t>
            </a:r>
            <a:r>
              <a:rPr lang="sr-Latn-RS" dirty="0"/>
              <a:t>sadrži</a:t>
            </a:r>
          </a:p>
          <a:p>
            <a:pPr lvl="1"/>
            <a:r>
              <a:rPr lang="sr-Latn-RS" dirty="0"/>
              <a:t>Kao </a:t>
            </a:r>
            <a:r>
              <a:rPr lang="sr-Latn-RS" i="1" dirty="0"/>
              <a:t>parent</a:t>
            </a:r>
            <a:r>
              <a:rPr lang="sr-Latn-RS" dirty="0"/>
              <a:t> element ali u obrnutom smeru</a:t>
            </a:r>
          </a:p>
          <a:p>
            <a:pPr lvl="2"/>
            <a:r>
              <a:rPr lang="sr-Latn-RS" dirty="0"/>
              <a:t>Sada roditelj navodi koje potprojekte sadrži</a:t>
            </a:r>
          </a:p>
          <a:p>
            <a:pPr lvl="1"/>
            <a:r>
              <a:rPr lang="sr-Latn-RS" dirty="0"/>
              <a:t>Sve operacije koje se izvrše u izgradnji projekta primenjuju se i na module koje on sadrži</a:t>
            </a:r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48578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Maven profili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Moguće je pripremiti različite načine izgradnje projekta</a:t>
            </a:r>
          </a:p>
          <a:p>
            <a:r>
              <a:rPr lang="sr-Latn-RS" dirty="0"/>
              <a:t>Svaki način izgradnje je jedan Maven profil</a:t>
            </a:r>
          </a:p>
          <a:p>
            <a:r>
              <a:rPr lang="sr-Latn-RS" dirty="0"/>
              <a:t>Npr. kreiramo različite profile za razvojnu i produkcionu verziju projekta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Primeri/pom (profiles-example).xml</a:t>
            </a:r>
          </a:p>
          <a:p>
            <a:pPr lvl="1"/>
            <a:r>
              <a:rPr lang="sr-Latn-RS" dirty="0"/>
              <a:t>Drugi profil koristi brži i laganiji veb server od prvog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8114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Maven profili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Profili se mogu definisati</a:t>
            </a:r>
          </a:p>
          <a:p>
            <a:pPr lvl="1"/>
            <a:r>
              <a:rPr lang="sr-Latn-RS" dirty="0"/>
              <a:t>globalno</a:t>
            </a:r>
          </a:p>
          <a:p>
            <a:pPr lvl="2"/>
            <a:r>
              <a:rPr lang="sr-Latn-RS" dirty="0"/>
              <a:t>u globalnom Maven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settings.xm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l</a:t>
            </a:r>
            <a:r>
              <a:rPr lang="sr-Latn-RS" dirty="0"/>
              <a:t> fajlu</a:t>
            </a:r>
          </a:p>
          <a:p>
            <a:pPr lvl="1"/>
            <a:r>
              <a:rPr lang="sr-Latn-RS" dirty="0"/>
              <a:t>na nivou korisnika</a:t>
            </a:r>
          </a:p>
          <a:p>
            <a:pPr lvl="2"/>
            <a:r>
              <a:rPr lang="sr-Latn-RS" dirty="0"/>
              <a:t>u Maven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settings.xml</a:t>
            </a:r>
            <a:r>
              <a:rPr lang="sr-Latn-RS" dirty="0"/>
              <a:t> fajlu specifičnom za konkretnog korisnika</a:t>
            </a:r>
          </a:p>
          <a:p>
            <a:pPr lvl="1"/>
            <a:r>
              <a:rPr lang="sr-Latn-RS" dirty="0"/>
              <a:t>na nivou projekta</a:t>
            </a:r>
          </a:p>
          <a:p>
            <a:pPr lvl="2"/>
            <a:r>
              <a:rPr lang="sr-Latn-RS" dirty="0"/>
              <a:t>u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pom.xml</a:t>
            </a:r>
            <a:r>
              <a:rPr lang="sr-Latn-RS" dirty="0"/>
              <a:t> fajlu projekta</a:t>
            </a:r>
          </a:p>
          <a:p>
            <a:r>
              <a:rPr lang="sr-Latn-RS" dirty="0"/>
              <a:t>Izgradnja korišćenjem određenog profila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mvn package -P dev</a:t>
            </a:r>
          </a:p>
          <a:p>
            <a:pPr lvl="1"/>
            <a:r>
              <a:rPr lang="sr-Latn-RS" dirty="0"/>
              <a:t>Izgradnja </a:t>
            </a:r>
            <a:r>
              <a:rPr lang="sr-Latn-RS" i="1" dirty="0"/>
              <a:t>package </a:t>
            </a:r>
            <a:r>
              <a:rPr lang="sr-Latn-RS" dirty="0"/>
              <a:t>faze u skladu sa profilom </a:t>
            </a:r>
            <a:r>
              <a:rPr lang="sr-Latn-RS" i="1" dirty="0"/>
              <a:t>dev</a:t>
            </a:r>
            <a:endParaRPr lang="en-GB" i="1" dirty="0"/>
          </a:p>
        </p:txBody>
      </p:sp>
    </p:spTree>
    <p:extLst>
      <p:ext uri="{BB962C8B-B14F-4D97-AF65-F5344CB8AC3E}">
        <p14:creationId xmlns:p14="http://schemas.microsoft.com/office/powerpoint/2010/main" val="20859836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zavisnostima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81600"/>
          </a:xfrm>
        </p:spPr>
        <p:txBody>
          <a:bodyPr>
            <a:normAutofit/>
          </a:bodyPr>
          <a:lstStyle/>
          <a:p>
            <a:r>
              <a:rPr lang="en-US" dirty="0"/>
              <a:t>Maven </a:t>
            </a:r>
            <a:r>
              <a:rPr lang="en-US" dirty="0" err="1"/>
              <a:t>upravlja</a:t>
            </a:r>
            <a:r>
              <a:rPr lang="en-US" dirty="0"/>
              <a:t> i </a:t>
            </a:r>
            <a:r>
              <a:rPr lang="en-US" dirty="0" err="1"/>
              <a:t>bibliotekama</a:t>
            </a:r>
            <a:r>
              <a:rPr lang="en-US" dirty="0"/>
              <a:t> od </a:t>
            </a:r>
            <a:r>
              <a:rPr lang="en-US" dirty="0" err="1"/>
              <a:t>kojih</a:t>
            </a:r>
            <a:r>
              <a:rPr lang="en-US" dirty="0"/>
              <a:t>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en-US" dirty="0" err="1"/>
              <a:t>zavisi</a:t>
            </a:r>
            <a:endParaRPr lang="en-US" dirty="0"/>
          </a:p>
          <a:p>
            <a:pPr lvl="1"/>
            <a:r>
              <a:rPr lang="en-US" dirty="0" err="1"/>
              <a:t>defin</a:t>
            </a:r>
            <a:r>
              <a:rPr lang="sr-Latn-RS" dirty="0"/>
              <a:t>išu se u pom fajlu u tagu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dependencies</a:t>
            </a:r>
            <a:endParaRPr lang="en-US" dirty="0">
              <a:latin typeface="Courier New" pitchFamily="49" charset="0"/>
              <a:cs typeface="Courier New" pitchFamily="49" charset="0"/>
            </a:endParaRPr>
          </a:p>
          <a:p>
            <a:r>
              <a:rPr lang="en-US" dirty="0"/>
              <a:t>Primer</a:t>
            </a:r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Primeri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hellomaven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/pom.xml</a:t>
            </a:r>
          </a:p>
          <a:p>
            <a:r>
              <a:rPr lang="sr-Latn-RS" dirty="0"/>
              <a:t>Definiše se naziv i potrebna verzija biblioteke</a:t>
            </a:r>
          </a:p>
          <a:p>
            <a:r>
              <a:rPr lang="sr-Latn-RS" dirty="0"/>
              <a:t>Maven iz javnog internet repozitorijuma dobavlja biblioteku u lokalni repozitorijum</a:t>
            </a:r>
            <a:endParaRPr lang="en-US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980629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Tranzitivne zavisnosti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>
            <a:normAutofit fontScale="85000" lnSpcReduction="20000"/>
          </a:bodyPr>
          <a:lstStyle/>
          <a:p>
            <a:r>
              <a:rPr lang="sr-Latn-RS" dirty="0"/>
              <a:t>Automatski će biti dobavljene i biblioteke od kojih zavisi tražena biblioteka</a:t>
            </a:r>
          </a:p>
          <a:p>
            <a:pPr lvl="2"/>
            <a:r>
              <a:rPr lang="sr-Latn-RS" dirty="0"/>
              <a:t>Maven analizira pom fajl tražene zavisnosti</a:t>
            </a:r>
          </a:p>
          <a:p>
            <a:pPr lvl="2"/>
            <a:r>
              <a:rPr lang="sr-Latn-RS" dirty="0"/>
              <a:t>dobavlja zavisnosti koje taj pom fajl referencira</a:t>
            </a:r>
          </a:p>
          <a:p>
            <a:pPr lvl="2"/>
            <a:r>
              <a:rPr lang="sr-Latn-RS" dirty="0"/>
              <a:t>na kraju dobavlja i traženu zavisnost</a:t>
            </a:r>
          </a:p>
          <a:p>
            <a:r>
              <a:rPr lang="sr-Latn-RS" dirty="0"/>
              <a:t>Moguće je eksplicitno isključiti tranzitivnu zavisnost da ne bude dobavljena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&lt;dependency&gt;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  &lt;groupId&gt;GroupX&lt;/groupId&gt;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  &lt;artifactId&gt;ArtifactX&lt;/artifactId&gt;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	&lt;exclusions&gt;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	  &lt;exclusion&gt;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	    &lt;groupId&gt;GroupZ&lt;/groupId&gt; 			    &lt;artifactId&gt;ArtifactZ&lt;/artifactId&gt;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	  &lt;/exclusion&gt;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	&lt;/exclusions&gt; </a:t>
            </a:r>
          </a:p>
          <a:p>
            <a:pPr marL="320040" lvl="1" indent="0">
              <a:buNone/>
            </a:pPr>
            <a:r>
              <a:rPr lang="sr-Latn-RS" dirty="0">
                <a:latin typeface="Courier New" pitchFamily="49" charset="0"/>
                <a:cs typeface="Courier New" pitchFamily="49" charset="0"/>
              </a:rPr>
              <a:t>  &lt;/dependency&gt;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0085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Stablo zavisnosti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Sve zavisnosti koje projekat sadrži formiraju stablo zavisnosti</a:t>
            </a:r>
          </a:p>
          <a:p>
            <a:r>
              <a:rPr lang="sr-Latn-RS" dirty="0"/>
              <a:t>Neke je referencirao projekat direktno, a neke su tranzitivno referencirane</a:t>
            </a:r>
          </a:p>
          <a:p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3"/>
          <a:stretch/>
        </p:blipFill>
        <p:spPr bwMode="auto">
          <a:xfrm>
            <a:off x="914401" y="3429000"/>
            <a:ext cx="7397750" cy="283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047118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Konflikt u stablu zavisnosti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Tranzitivne zavisnosti pojednostavljuju upravljanje zavisnostima, ali uvode i određene probleme</a:t>
            </a:r>
          </a:p>
          <a:p>
            <a:r>
              <a:rPr lang="sr-Latn-RS" dirty="0"/>
              <a:t>Šta ako se različite verzije iste zavisnosti referenciraju?</a:t>
            </a:r>
          </a:p>
          <a:p>
            <a:r>
              <a:rPr lang="sr-Latn-RS" dirty="0"/>
              <a:t>Dolazi do konflikta u stablu zavisnosti</a:t>
            </a:r>
          </a:p>
          <a:p>
            <a:endParaRPr lang="sr-Latn-RS" dirty="0"/>
          </a:p>
          <a:p>
            <a:endParaRPr lang="en-GB" dirty="0"/>
          </a:p>
        </p:txBody>
      </p:sp>
      <p:pic>
        <p:nvPicPr>
          <p:cNvPr id="2050" name="Picture 2" descr="http://3.bp.blogspot.com/-i91j78yuxyY/TWVbp-nkbpI/AAAAAAAAAWI/bYqmljRUZ_s/s320/MavenDependencyMediation-DepTre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810000"/>
            <a:ext cx="3048000" cy="1914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44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Medijacija zavisnosti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029200"/>
          </a:xfrm>
        </p:spPr>
        <p:txBody>
          <a:bodyPr/>
          <a:lstStyle/>
          <a:p>
            <a:r>
              <a:rPr lang="sr-Latn-RS" dirty="0"/>
              <a:t>Medijacija zavisnosti je mehanizam koji Maven koristi za odlučivanje koju verziju zavisnosti da uključi</a:t>
            </a:r>
          </a:p>
          <a:p>
            <a:r>
              <a:rPr lang="sr-Latn-RS" dirty="0"/>
              <a:t>Uključuje se verzija iz zavisnosti koja ima najmanje rastojanje od korena projekta</a:t>
            </a:r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endParaRPr lang="sr-Latn-RS" dirty="0"/>
          </a:p>
          <a:p>
            <a:r>
              <a:rPr lang="sr-Latn-RS" dirty="0"/>
              <a:t>Ako na istoj udaljenosti postoje dve konfliktne zavisnosti, uzima se prva navedena</a:t>
            </a:r>
          </a:p>
        </p:txBody>
      </p:sp>
      <p:pic>
        <p:nvPicPr>
          <p:cNvPr id="3076" name="Picture 4" descr="http://3.bp.blogspot.com/-4yjPR46p2uM/TWVigFm_kkI/AAAAAAAAAWQ/UENgAoJaYxs/s320/MavenDependencyMediation-DepTreeDistance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199" y="3581400"/>
            <a:ext cx="3984311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19182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Doseg zavisnosti (</a:t>
            </a:r>
            <a:r>
              <a:rPr lang="sr-Latn-RS" i="1" dirty="0"/>
              <a:t>scope</a:t>
            </a:r>
            <a:r>
              <a:rPr lang="sr-Latn-R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Doseg definiše vidljivost biblioteke u različitim delovima izgradnje projekta</a:t>
            </a:r>
          </a:p>
          <a:p>
            <a:r>
              <a:rPr lang="sr-Latn-RS" dirty="0"/>
              <a:t>Takođe, tranzitivnost zavisnosti zavisi od njenog dosega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/>
              <a:t>biblioteka koja se koristi pri izvršavanju testova</a:t>
            </a:r>
          </a:p>
          <a:p>
            <a:pPr marL="320040" lvl="1" indent="0">
              <a:buNone/>
            </a:pPr>
            <a:r>
              <a:rPr lang="sr-Latn-RS" dirty="0"/>
              <a:t>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&lt;dependency&gt;</a:t>
            </a:r>
          </a:p>
          <a:p>
            <a:pPr marL="320040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    &lt;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junit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320040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    &lt;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junit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320040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    &lt;version&gt;3.8.1&lt;/version&gt;</a:t>
            </a:r>
          </a:p>
          <a:p>
            <a:pPr marL="320040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    &lt;scope&gt;test&lt;/scope&gt;</a:t>
            </a:r>
          </a:p>
          <a:p>
            <a:pPr marL="320040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326636579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Doseg zavisnosti (</a:t>
            </a:r>
            <a:r>
              <a:rPr lang="sr-Latn-RS" i="1" dirty="0"/>
              <a:t>scope</a:t>
            </a:r>
            <a:r>
              <a:rPr lang="sr-Latn-R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Postoji 6 mogućih dosega</a:t>
            </a:r>
          </a:p>
          <a:p>
            <a:pPr lvl="1"/>
            <a:r>
              <a:rPr lang="sr-Latn-RS" i="1" dirty="0"/>
              <a:t>compile</a:t>
            </a:r>
          </a:p>
          <a:p>
            <a:pPr lvl="2"/>
            <a:r>
              <a:rPr lang="sr-Latn-RS" dirty="0"/>
              <a:t>zavisnost potrebna za kompajliranje, kao i za sve ostale faze (testiranje, izvršavanje)</a:t>
            </a:r>
          </a:p>
          <a:p>
            <a:pPr lvl="2"/>
            <a:r>
              <a:rPr lang="sr-Latn-RS" dirty="0"/>
              <a:t>ovo je podrazumevani doseg</a:t>
            </a:r>
          </a:p>
          <a:p>
            <a:pPr lvl="2"/>
            <a:r>
              <a:rPr lang="sr-Latn-RS" dirty="0"/>
              <a:t>zavisnosti ovog dosega se tranzitivno učitavaju ako neki drugi projekat zavisi od ovog projekta</a:t>
            </a:r>
          </a:p>
          <a:p>
            <a:pPr lvl="1"/>
            <a:r>
              <a:rPr lang="sr-Latn-RS" i="1" dirty="0"/>
              <a:t>test</a:t>
            </a:r>
            <a:endParaRPr lang="sr-Latn-RS" dirty="0"/>
          </a:p>
          <a:p>
            <a:pPr lvl="2"/>
            <a:r>
              <a:rPr lang="sr-Latn-RS" dirty="0"/>
              <a:t>zavisnost potrebna za kompajliranje i izvršavanje testova</a:t>
            </a:r>
          </a:p>
          <a:p>
            <a:pPr lvl="2"/>
            <a:r>
              <a:rPr lang="sr-Latn-RS" dirty="0"/>
              <a:t>nije potrebna pri izvršavanju aplikacije</a:t>
            </a:r>
          </a:p>
          <a:p>
            <a:pPr lvl="1"/>
            <a:r>
              <a:rPr lang="sr-Latn-RS" i="1" dirty="0" smtClean="0"/>
              <a:t>runtime</a:t>
            </a:r>
            <a:endParaRPr lang="sr-Latn-RS" dirty="0" smtClean="0"/>
          </a:p>
          <a:p>
            <a:pPr lvl="2"/>
            <a:r>
              <a:rPr lang="sr-Latn-RS" dirty="0" smtClean="0"/>
              <a:t>zavisnost potrebna pri izvršavanju aplikacije</a:t>
            </a:r>
          </a:p>
          <a:p>
            <a:pPr lvl="2"/>
            <a:r>
              <a:rPr lang="sr-Latn-RS" dirty="0" smtClean="0"/>
              <a:t>nije </a:t>
            </a:r>
            <a:r>
              <a:rPr lang="sr-Latn-RS" dirty="0"/>
              <a:t>potrebna pri kompajliranju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119250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Doseg zavisnosti (</a:t>
            </a:r>
            <a:r>
              <a:rPr lang="sr-Latn-RS" i="1" dirty="0"/>
              <a:t>scope</a:t>
            </a:r>
            <a:r>
              <a:rPr lang="sr-Latn-R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Tipovi dosega (nastavak sa prethodnog slajda)</a:t>
            </a:r>
          </a:p>
          <a:p>
            <a:pPr lvl="1"/>
            <a:r>
              <a:rPr lang="sr-Latn-RS" i="1" dirty="0"/>
              <a:t>provided</a:t>
            </a:r>
          </a:p>
          <a:p>
            <a:pPr lvl="2"/>
            <a:r>
              <a:rPr lang="sr-Latn-RS" dirty="0"/>
              <a:t>zavisnost se koristi za kompajliranje i izvršavanje, ali će pri izvršavanju biti obezbeđena od strane JDK ili kontejnera</a:t>
            </a:r>
          </a:p>
          <a:p>
            <a:pPr lvl="2"/>
            <a:r>
              <a:rPr lang="sr-Latn-RS" dirty="0"/>
              <a:t>dakle nema potrebe da Maven obezbeđuje ovu zavisnost pri izvršavanju</a:t>
            </a:r>
          </a:p>
          <a:p>
            <a:pPr lvl="2"/>
            <a:r>
              <a:rPr lang="sr-Latn-RS" dirty="0"/>
              <a:t>npr.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servlet-api.jar</a:t>
            </a:r>
            <a:r>
              <a:rPr lang="sr-Latn-RS" dirty="0"/>
              <a:t> se već nalazi u okviru Tomcat kontejnera</a:t>
            </a:r>
          </a:p>
          <a:p>
            <a:pPr lvl="1"/>
            <a:r>
              <a:rPr lang="sr-Latn-RS" i="1" dirty="0"/>
              <a:t>system</a:t>
            </a:r>
          </a:p>
          <a:p>
            <a:pPr lvl="2"/>
            <a:r>
              <a:rPr lang="sr-Latn-RS" dirty="0"/>
              <a:t>slično kao </a:t>
            </a:r>
            <a:r>
              <a:rPr lang="sr-Latn-RS" i="1" dirty="0"/>
              <a:t>provided, </a:t>
            </a:r>
            <a:r>
              <a:rPr lang="sr-Latn-RS" dirty="0"/>
              <a:t>ni kod ovog tipa Maven ne obezbeđuje zavisnost pri izvršavanju aplikacije</a:t>
            </a:r>
          </a:p>
          <a:p>
            <a:pPr lvl="2"/>
            <a:r>
              <a:rPr lang="sr-Latn-RS" dirty="0"/>
              <a:t>mora se navesti putanja jar fajla</a:t>
            </a:r>
          </a:p>
          <a:p>
            <a:pPr lvl="2"/>
            <a:r>
              <a:rPr lang="sr-Latn-RS" dirty="0"/>
              <a:t>neće se tražiti zavisnost u repozitorijumu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89392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Doseg zavisnosti (</a:t>
            </a:r>
            <a:r>
              <a:rPr lang="sr-Latn-RS" i="1" dirty="0"/>
              <a:t>scope</a:t>
            </a:r>
            <a:r>
              <a:rPr lang="sr-Latn-RS" dirty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Tipovi dosega (nastavak sa prethodnog slajda)</a:t>
            </a:r>
          </a:p>
          <a:p>
            <a:pPr lvl="1"/>
            <a:r>
              <a:rPr lang="sr-Latn-RS" i="1" dirty="0"/>
              <a:t>import</a:t>
            </a:r>
          </a:p>
          <a:p>
            <a:pPr lvl="2"/>
            <a:r>
              <a:rPr lang="sr-Latn-RS" dirty="0"/>
              <a:t>koristi se za velike višemodulske projekte</a:t>
            </a:r>
          </a:p>
          <a:p>
            <a:pPr lvl="2"/>
            <a:r>
              <a:rPr lang="sr-Latn-RS" dirty="0"/>
              <a:t>oznaka da se na mesto navedene zavisnosti postavljaju zavisnosti navedene u posebnom pom fajlu (koji detaljno specificira navedenu zavisnost)</a:t>
            </a:r>
          </a:p>
        </p:txBody>
      </p:sp>
    </p:spTree>
    <p:extLst>
      <p:ext uri="{BB962C8B-B14F-4D97-AF65-F5344CB8AC3E}">
        <p14:creationId xmlns:p14="http://schemas.microsoft.com/office/powerpoint/2010/main" val="49556786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Podešavanje izgradnje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sr-Latn-RS" dirty="0"/>
              <a:t>Podešava se u okviru </a:t>
            </a:r>
            <a:r>
              <a:rPr lang="sr-Latn-RS" i="1" dirty="0"/>
              <a:t>build </a:t>
            </a:r>
            <a:r>
              <a:rPr lang="sr-Latn-RS" dirty="0"/>
              <a:t>taga pom fajla</a:t>
            </a:r>
          </a:p>
          <a:p>
            <a:endParaRPr lang="sr-Latn-RS" dirty="0"/>
          </a:p>
          <a:p>
            <a:r>
              <a:rPr lang="sr-Latn-RS" dirty="0"/>
              <a:t>Moguće je isti element koristiti i unutar profila za podešavanje izgradnje konkretnog profila</a:t>
            </a:r>
          </a:p>
          <a:p>
            <a:pPr marL="0" indent="0">
              <a:buNone/>
            </a:pP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&lt;project </a:t>
            </a:r>
            <a:r>
              <a:rPr lang="sr-Latn-RS" sz="1900" dirty="0">
                <a:latin typeface="Courier New" pitchFamily="49" charset="0"/>
                <a:cs typeface="Courier New" pitchFamily="49" charset="0"/>
              </a:rPr>
              <a:t>...</a:t>
            </a:r>
            <a:r>
              <a:rPr lang="en-GB" sz="19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  ...</a:t>
            </a:r>
          </a:p>
          <a:p>
            <a:pPr marL="0" indent="0">
              <a:buNone/>
            </a:pPr>
            <a:r>
              <a:rPr lang="sr-Latn-RS" sz="19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900" dirty="0">
                <a:latin typeface="Courier New" pitchFamily="49" charset="0"/>
                <a:cs typeface="Courier New" pitchFamily="49" charset="0"/>
              </a:rPr>
              <a:t>&lt;build&gt;...&lt;/build&gt;</a:t>
            </a: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  &lt;profiles&gt;</a:t>
            </a: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    &lt;profile&gt;</a:t>
            </a:r>
          </a:p>
          <a:p>
            <a:pPr marL="0" indent="0">
              <a:buNone/>
            </a:pPr>
            <a:r>
              <a:rPr lang="sr-Latn-RS" sz="19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1900" dirty="0">
                <a:latin typeface="Courier New" pitchFamily="49" charset="0"/>
                <a:cs typeface="Courier New" pitchFamily="49" charset="0"/>
              </a:rPr>
              <a:t>&lt;build&gt;...&lt;/build&gt;</a:t>
            </a: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    &lt;/profile&gt;</a:t>
            </a: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  &lt;/profiles&gt;</a:t>
            </a:r>
          </a:p>
          <a:p>
            <a:pPr marL="0" indent="0">
              <a:buNone/>
            </a:pPr>
            <a:r>
              <a:rPr lang="en-GB" sz="1900" dirty="0">
                <a:latin typeface="Courier New" pitchFamily="49" charset="0"/>
                <a:cs typeface="Courier New" pitchFamily="49" charset="0"/>
              </a:rPr>
              <a:t>&lt;/project&gt;</a:t>
            </a:r>
            <a:endParaRPr lang="sr-Latn-RS" sz="1900" dirty="0">
              <a:latin typeface="Courier New" pitchFamily="49" charset="0"/>
              <a:cs typeface="Courier New" pitchFamily="49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6179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Upravljanje resursima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Moguće je u okviru </a:t>
            </a:r>
            <a:r>
              <a:rPr lang="sr-Latn-RS" i="1" dirty="0"/>
              <a:t>build</a:t>
            </a:r>
            <a:r>
              <a:rPr lang="sr-Latn-RS" dirty="0"/>
              <a:t> elementa definisati koji resursi treba da se nađu u konačnom projektu</a:t>
            </a:r>
            <a:endParaRPr lang="sr-Cyrl-RS" dirty="0"/>
          </a:p>
          <a:p>
            <a:pPr lvl="1"/>
            <a:r>
              <a:rPr lang="en-US" i="1" dirty="0"/>
              <a:t>include</a:t>
            </a:r>
            <a:endParaRPr lang="sr-Latn-RS" i="1" dirty="0"/>
          </a:p>
          <a:p>
            <a:pPr lvl="2"/>
            <a:r>
              <a:rPr lang="sr-Latn-RS" dirty="0"/>
              <a:t>resurs će biti ubačen u konačni projekat</a:t>
            </a:r>
            <a:endParaRPr lang="en-US" dirty="0"/>
          </a:p>
          <a:p>
            <a:pPr lvl="1"/>
            <a:r>
              <a:rPr lang="sr-Latn-RS" i="1" dirty="0"/>
              <a:t>exclude </a:t>
            </a:r>
          </a:p>
          <a:p>
            <a:pPr lvl="2"/>
            <a:r>
              <a:rPr lang="sr-Latn-RS" dirty="0"/>
              <a:t>resurs se neće nalaziti u konačnom projektu</a:t>
            </a:r>
          </a:p>
          <a:p>
            <a:pPr lvl="1"/>
            <a:r>
              <a:rPr lang="sr-Latn-RS" i="1" dirty="0"/>
              <a:t>targetPath</a:t>
            </a:r>
          </a:p>
          <a:p>
            <a:pPr lvl="2"/>
            <a:r>
              <a:rPr lang="sr-Latn-RS" dirty="0"/>
              <a:t>putanja na koju će resurs biti ubačen u konačni projekat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Primeri/pom (resources-example).xml</a:t>
            </a:r>
          </a:p>
          <a:p>
            <a:pPr lvl="2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6371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Podešavanje </a:t>
            </a:r>
            <a:r>
              <a:rPr lang="sr-Latn-RS" i="1" dirty="0"/>
              <a:t>plugin</a:t>
            </a:r>
            <a:r>
              <a:rPr lang="sr-Latn-RS" dirty="0"/>
              <a:t>-a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U okviru </a:t>
            </a:r>
            <a:r>
              <a:rPr lang="sr-Latn-RS" i="1" dirty="0"/>
              <a:t>build </a:t>
            </a:r>
            <a:r>
              <a:rPr lang="sr-Latn-RS" dirty="0"/>
              <a:t>elementa moguće je i prilagoditi rad određenog </a:t>
            </a:r>
            <a:r>
              <a:rPr lang="sr-Latn-RS" i="1" dirty="0"/>
              <a:t>plugin</a:t>
            </a:r>
            <a:r>
              <a:rPr lang="sr-Latn-RS" dirty="0"/>
              <a:t>-a u konkretnom projektu</a:t>
            </a:r>
          </a:p>
          <a:p>
            <a:r>
              <a:rPr lang="sr-Latn-RS" dirty="0"/>
              <a:t>Navodi se </a:t>
            </a:r>
            <a:r>
              <a:rPr lang="sr-Latn-RS" i="1" dirty="0"/>
              <a:t>plugin </a:t>
            </a:r>
            <a:r>
              <a:rPr lang="sr-Latn-RS" dirty="0"/>
              <a:t>koji se konfiguriše</a:t>
            </a:r>
          </a:p>
          <a:p>
            <a:r>
              <a:rPr lang="sr-Latn-RS" dirty="0"/>
              <a:t>Za </a:t>
            </a:r>
            <a:r>
              <a:rPr lang="sr-Latn-RS" i="1" dirty="0"/>
              <a:t>plugin</a:t>
            </a:r>
            <a:r>
              <a:rPr lang="sr-Latn-RS" dirty="0"/>
              <a:t> se u okviru </a:t>
            </a:r>
            <a:r>
              <a:rPr lang="sr-Latn-RS" i="1" dirty="0"/>
              <a:t>configuration</a:t>
            </a:r>
            <a:r>
              <a:rPr lang="sr-Latn-RS" dirty="0"/>
              <a:t> elementa navode parametri koji prilagođavaju rad </a:t>
            </a:r>
            <a:r>
              <a:rPr lang="sr-Latn-RS" i="1" dirty="0"/>
              <a:t>plugin</a:t>
            </a:r>
            <a:r>
              <a:rPr lang="sr-Latn-RS" dirty="0"/>
              <a:t>-a</a:t>
            </a:r>
          </a:p>
          <a:p>
            <a:r>
              <a:rPr lang="sr-Latn-RS" dirty="0"/>
              <a:t>Ovi parametri su specifični za svaki </a:t>
            </a:r>
            <a:r>
              <a:rPr lang="sr-Latn-RS" i="1" dirty="0"/>
              <a:t>plugin</a:t>
            </a:r>
          </a:p>
          <a:p>
            <a:r>
              <a:rPr lang="sr-Latn-RS" dirty="0"/>
              <a:t>Primer</a:t>
            </a:r>
            <a:endParaRPr lang="en-US" dirty="0"/>
          </a:p>
          <a:p>
            <a:pPr lvl="1"/>
            <a:r>
              <a:rPr lang="en-US" dirty="0"/>
              <a:t>pod</a:t>
            </a:r>
            <a:r>
              <a:rPr lang="sr-Latn-RS" dirty="0"/>
              <a:t>ešavanje war </a:t>
            </a:r>
            <a:r>
              <a:rPr lang="sr-Latn-RS" i="1" dirty="0"/>
              <a:t>plugin</a:t>
            </a:r>
            <a:r>
              <a:rPr lang="sr-Latn-RS" dirty="0"/>
              <a:t>-a da ignoriše određene fajlove pri kreiranju war fajla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Primeri/pom (plugin-configuration).xml</a:t>
            </a:r>
          </a:p>
        </p:txBody>
      </p:sp>
    </p:spTree>
    <p:extLst>
      <p:ext uri="{BB962C8B-B14F-4D97-AF65-F5344CB8AC3E}">
        <p14:creationId xmlns:p14="http://schemas.microsoft.com/office/powerpoint/2010/main" val="3260764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Dodavanje novog plugina pri izgradnji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Moguće je odrediti da se u određenoj fazi projekta izvršavaju ciljevi nekog </a:t>
            </a:r>
            <a:r>
              <a:rPr lang="sr-Latn-RS" i="1" dirty="0"/>
              <a:t>plugin</a:t>
            </a:r>
            <a:r>
              <a:rPr lang="sr-Latn-RS" dirty="0"/>
              <a:t>-a</a:t>
            </a:r>
          </a:p>
          <a:p>
            <a:r>
              <a:rPr lang="sr-Latn-RS" dirty="0"/>
              <a:t>Navode se </a:t>
            </a:r>
          </a:p>
          <a:p>
            <a:pPr lvl="1"/>
            <a:r>
              <a:rPr lang="sr-Latn-RS" dirty="0"/>
              <a:t>plugin</a:t>
            </a:r>
          </a:p>
          <a:p>
            <a:pPr lvl="1"/>
            <a:r>
              <a:rPr lang="sr-Latn-RS" dirty="0"/>
              <a:t>ciljevi</a:t>
            </a:r>
          </a:p>
          <a:p>
            <a:pPr lvl="1"/>
            <a:r>
              <a:rPr lang="sr-Latn-RS" dirty="0"/>
              <a:t>faza u kojoj se ciljevi izvršavaju</a:t>
            </a:r>
          </a:p>
          <a:p>
            <a:pPr lvl="1"/>
            <a:r>
              <a:rPr lang="sr-Latn-RS" dirty="0"/>
              <a:t>konfiguracija pri izvršavanju</a:t>
            </a:r>
          </a:p>
          <a:p>
            <a:r>
              <a:rPr lang="en-US" dirty="0"/>
              <a:t>Primer</a:t>
            </a:r>
          </a:p>
          <a:p>
            <a:pPr lvl="1"/>
            <a:r>
              <a:rPr lang="en-US" dirty="0"/>
              <a:t>U </a:t>
            </a:r>
            <a:r>
              <a:rPr lang="en-US" dirty="0" err="1"/>
              <a:t>fazi</a:t>
            </a:r>
            <a:r>
              <a:rPr lang="en-US" dirty="0"/>
              <a:t> </a:t>
            </a:r>
            <a:r>
              <a:rPr lang="en-US" i="1" dirty="0"/>
              <a:t>generate-resources</a:t>
            </a:r>
            <a:r>
              <a:rPr lang="en-US" dirty="0"/>
              <a:t> </a:t>
            </a:r>
            <a:r>
              <a:rPr lang="sr-Latn-RS" dirty="0"/>
              <a:t>poziva se izgradnja i klijentskog dela veb aplikacije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Primeri/pom (plugin-execution).xml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95693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Upravljanje višemodulskim projektima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</a:t>
            </a:r>
            <a:r>
              <a:rPr lang="sr-Latn-RS" dirty="0"/>
              <a:t>že se realizovati na dva načina</a:t>
            </a:r>
          </a:p>
          <a:p>
            <a:pPr lvl="1"/>
            <a:r>
              <a:rPr lang="sr-Latn-RS" dirty="0"/>
              <a:t>nasleđivanjem</a:t>
            </a:r>
          </a:p>
          <a:p>
            <a:pPr lvl="1"/>
            <a:r>
              <a:rPr lang="sr-Latn-RS" dirty="0"/>
              <a:t>agregacijom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51492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Nasleđivanje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r>
              <a:rPr lang="sr-Latn-RS" dirty="0"/>
              <a:t>Nasleđuje se konfiguracija izgradnje drugog projekta</a:t>
            </a:r>
          </a:p>
          <a:p>
            <a:r>
              <a:rPr lang="sr-Latn-RS" dirty="0"/>
              <a:t>Projekat potomak specificira koji projekat nasleđuje</a:t>
            </a:r>
          </a:p>
          <a:p>
            <a:pPr lvl="1"/>
            <a:r>
              <a:rPr lang="sr-Latn-RS" dirty="0"/>
              <a:t>roditelj nije svestan nasleđivanja</a:t>
            </a:r>
          </a:p>
          <a:p>
            <a:r>
              <a:rPr lang="sr-Latn-RS" dirty="0"/>
              <a:t>Elementi roditeljskog pom fajla se ubacuju u pom fajl projekta potomka</a:t>
            </a:r>
          </a:p>
          <a:p>
            <a:r>
              <a:rPr lang="sr-Latn-RS" dirty="0"/>
              <a:t>Omogućuje deljenje zajedničkih podešavanja projekta</a:t>
            </a:r>
          </a:p>
          <a:p>
            <a:r>
              <a:rPr lang="sr-Latn-RS" dirty="0"/>
              <a:t>Primer</a:t>
            </a:r>
          </a:p>
          <a:p>
            <a:pPr lvl="1"/>
            <a:r>
              <a:rPr lang="sr-Latn-RS" dirty="0"/>
              <a:t>potomak preuzima od roditelja groupId, verziju i zavisnosti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Primeri/pom (parent).xml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Primeri/pom (child).xml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91942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Nasleđivanje 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Projekat automatski nasleđuje Super pom</a:t>
            </a:r>
          </a:p>
          <a:p>
            <a:pPr lvl="1"/>
            <a:r>
              <a:rPr lang="sr-Latn-RS" dirty="0"/>
              <a:t>sadrži podrazumevanu konfiguraciju</a:t>
            </a:r>
          </a:p>
          <a:p>
            <a:r>
              <a:rPr lang="sr-Latn-RS" dirty="0"/>
              <a:t>E</a:t>
            </a:r>
            <a:r>
              <a:rPr lang="en-US" dirty="0" err="1"/>
              <a:t>fektivni</a:t>
            </a:r>
            <a:r>
              <a:rPr lang="en-US" dirty="0"/>
              <a:t> </a:t>
            </a:r>
            <a:r>
              <a:rPr lang="sr-Latn-RS" dirty="0"/>
              <a:t>pom</a:t>
            </a:r>
            <a:r>
              <a:rPr lang="en-US" dirty="0"/>
              <a:t> (</a:t>
            </a:r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help:effective-pom</a:t>
            </a:r>
            <a:r>
              <a:rPr lang="en-US" dirty="0"/>
              <a:t>)</a:t>
            </a:r>
          </a:p>
          <a:p>
            <a:pPr lvl="1"/>
            <a:r>
              <a:rPr lang="sr-Latn-RS" dirty="0"/>
              <a:t>prikaz objedinjenog pom</a:t>
            </a:r>
            <a:r>
              <a:rPr lang="en-US" dirty="0"/>
              <a:t> </a:t>
            </a:r>
            <a:r>
              <a:rPr lang="sr-Latn-RS" dirty="0"/>
              <a:t>fajla </a:t>
            </a:r>
            <a:r>
              <a:rPr lang="en-US" dirty="0"/>
              <a:t>u </a:t>
            </a:r>
            <a:r>
              <a:rPr lang="en-US" dirty="0" err="1"/>
              <a:t>koj</a:t>
            </a:r>
            <a:r>
              <a:rPr lang="sr-Latn-RS" dirty="0"/>
              <a:t>em se nalazi i nasleđena konfiguracija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05850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Lokacija</a:t>
            </a:r>
            <a:r>
              <a:rPr lang="en-US" dirty="0"/>
              <a:t> </a:t>
            </a:r>
            <a:r>
              <a:rPr lang="en-US" dirty="0" err="1"/>
              <a:t>roditeljskog</a:t>
            </a:r>
            <a:r>
              <a:rPr lang="en-US" dirty="0"/>
              <a:t> </a:t>
            </a:r>
            <a:r>
              <a:rPr lang="en-US" dirty="0" err="1"/>
              <a:t>projekta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</a:t>
            </a:r>
            <a:r>
              <a:rPr lang="en-US" dirty="0" err="1"/>
              <a:t>otomak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sr-Latn-RS" dirty="0"/>
              <a:t>ži roditeljski projekat u roditeljskom folderu svog pom fajla</a:t>
            </a:r>
          </a:p>
          <a:p>
            <a:r>
              <a:rPr lang="sr-Latn-RS" dirty="0"/>
              <a:t>Naredna lokacija na kojoj traži roditeljski projekat je u repozitorijumu</a:t>
            </a:r>
          </a:p>
          <a:p>
            <a:r>
              <a:rPr lang="sr-Latn-RS" dirty="0"/>
              <a:t>Moguće je i specificirati lokaciju roditeljskog pom fajla u potomku</a:t>
            </a:r>
          </a:p>
          <a:p>
            <a:pPr marL="32004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&lt;parent&gt;</a:t>
            </a:r>
          </a:p>
          <a:p>
            <a:pPr marL="32004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…</a:t>
            </a:r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pPr marL="320040" lvl="1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	&lt;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relativePath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&gt;../parent/pom.xml&lt;/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relativePath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320040" lvl="1" indent="0"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&lt;/parent&gt;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9806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Agregacija projekata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r-Latn-RS" dirty="0"/>
              <a:t>Obrnut pristup od nasleđivanja</a:t>
            </a:r>
          </a:p>
          <a:p>
            <a:r>
              <a:rPr lang="sr-Latn-RS" dirty="0"/>
              <a:t>Roditeljski projekat specificira koje potprojekte sadrži</a:t>
            </a:r>
          </a:p>
          <a:p>
            <a:pPr lvl="1"/>
            <a:r>
              <a:rPr lang="sr-Latn-RS" dirty="0"/>
              <a:t>potprojekti nisu svesni agregacije</a:t>
            </a:r>
          </a:p>
          <a:p>
            <a:r>
              <a:rPr lang="sr-Latn-RS" dirty="0"/>
              <a:t>Potprojekti se nazivaju moduli</a:t>
            </a:r>
          </a:p>
          <a:p>
            <a:r>
              <a:rPr lang="sr-Latn-RS" dirty="0"/>
              <a:t>Svaka maven operacija izvršena nad roditeljskim projektom propagira se na module koje on sadrži</a:t>
            </a:r>
          </a:p>
          <a:p>
            <a:pPr lvl="1"/>
            <a:r>
              <a:rPr lang="sr-Latn-RS" dirty="0"/>
              <a:t>omogućuje centralizovanu izgradnju pojedinačnih projekata</a:t>
            </a:r>
            <a:endParaRPr lang="en-US" dirty="0"/>
          </a:p>
          <a:p>
            <a:r>
              <a:rPr lang="en-US" dirty="0"/>
              <a:t>U </a:t>
            </a:r>
            <a:r>
              <a:rPr lang="en-US" dirty="0" err="1"/>
              <a:t>roditeljskom</a:t>
            </a:r>
            <a:r>
              <a:rPr lang="en-US" dirty="0"/>
              <a:t> </a:t>
            </a:r>
            <a:r>
              <a:rPr lang="en-US" dirty="0" err="1"/>
              <a:t>pom</a:t>
            </a:r>
            <a:r>
              <a:rPr lang="en-US" dirty="0"/>
              <a:t> </a:t>
            </a:r>
            <a:r>
              <a:rPr lang="en-US" dirty="0" err="1"/>
              <a:t>fajlu</a:t>
            </a:r>
            <a:r>
              <a:rPr lang="en-US" dirty="0"/>
              <a:t> se </a:t>
            </a:r>
            <a:r>
              <a:rPr lang="en-US" dirty="0" err="1"/>
              <a:t>navode</a:t>
            </a:r>
            <a:r>
              <a:rPr lang="en-US" dirty="0"/>
              <a:t> </a:t>
            </a:r>
            <a:r>
              <a:rPr lang="en-US" dirty="0" err="1"/>
              <a:t>folderi</a:t>
            </a:r>
            <a:r>
              <a:rPr lang="en-US" dirty="0"/>
              <a:t> u </a:t>
            </a:r>
            <a:r>
              <a:rPr lang="en-US" dirty="0" err="1"/>
              <a:t>kojima</a:t>
            </a:r>
            <a:r>
              <a:rPr lang="en-US" dirty="0"/>
              <a:t>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pom</a:t>
            </a:r>
            <a:r>
              <a:rPr lang="en-US" dirty="0"/>
              <a:t> </a:t>
            </a:r>
            <a:r>
              <a:rPr lang="en-US" dirty="0" err="1"/>
              <a:t>fajlovi</a:t>
            </a:r>
            <a:r>
              <a:rPr lang="en-US" dirty="0"/>
              <a:t> </a:t>
            </a:r>
            <a:r>
              <a:rPr lang="en-US" dirty="0" err="1"/>
              <a:t>potprojekata</a:t>
            </a:r>
            <a:endParaRPr lang="en-US" dirty="0"/>
          </a:p>
          <a:p>
            <a:r>
              <a:rPr lang="en-US" dirty="0"/>
              <a:t>Primer</a:t>
            </a:r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Primeri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(aggregation-parent).xml</a:t>
            </a:r>
          </a:p>
          <a:p>
            <a:pPr lvl="1"/>
            <a:r>
              <a:rPr lang="en-US" dirty="0" err="1">
                <a:latin typeface="Courier New" pitchFamily="49" charset="0"/>
                <a:cs typeface="Courier New" pitchFamily="49" charset="0"/>
              </a:rPr>
              <a:t>Primeri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dirty="0" err="1">
                <a:latin typeface="Courier New" pitchFamily="49" charset="0"/>
                <a:cs typeface="Courier New" pitchFamily="49" charset="0"/>
              </a:rPr>
              <a:t>pom</a:t>
            </a:r>
            <a:r>
              <a:rPr lang="en-US" dirty="0">
                <a:latin typeface="Courier New" pitchFamily="49" charset="0"/>
                <a:cs typeface="Courier New" pitchFamily="49" charset="0"/>
              </a:rPr>
              <a:t> (aggregation-child).xml</a:t>
            </a:r>
          </a:p>
        </p:txBody>
      </p:sp>
    </p:spTree>
    <p:extLst>
      <p:ext uri="{BB962C8B-B14F-4D97-AF65-F5344CB8AC3E}">
        <p14:creationId xmlns:p14="http://schemas.microsoft.com/office/powerpoint/2010/main" val="5266757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Maven Reactor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Reactor je Maven komponenta koja upravlja izgradnjom višemodulskog projekta</a:t>
            </a:r>
          </a:p>
          <a:p>
            <a:pPr lvl="1"/>
            <a:r>
              <a:rPr lang="sr-Latn-RS" dirty="0"/>
              <a:t>Pronalazi potrebne module</a:t>
            </a:r>
          </a:p>
          <a:p>
            <a:pPr lvl="1"/>
            <a:r>
              <a:rPr lang="sr-Latn-RS" dirty="0"/>
              <a:t>Sortira ih tako da budu u ispravnom redosledu za izgradnju</a:t>
            </a:r>
          </a:p>
          <a:p>
            <a:pPr lvl="2"/>
            <a:r>
              <a:rPr lang="sr-Latn-RS" dirty="0"/>
              <a:t>Redosled se formira na osnovu međusobnih zavisnosti između projekata</a:t>
            </a:r>
          </a:p>
          <a:p>
            <a:pPr lvl="2"/>
            <a:r>
              <a:rPr lang="sr-Latn-RS" dirty="0"/>
              <a:t>Projekat treba biti izgrađen pre korišćenja kao zavisnost za drugi projekat </a:t>
            </a:r>
          </a:p>
          <a:p>
            <a:pPr lvl="1"/>
            <a:r>
              <a:rPr lang="sr-Latn-RS" dirty="0"/>
              <a:t>Vrši izgradnju u kreiranom redosledu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70660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Kombinacija nasleđivanja i agregacije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Nema prepreke da se ova dva pristupa zajedno koriste</a:t>
            </a:r>
          </a:p>
          <a:p>
            <a:r>
              <a:rPr lang="sr-Latn-RS" dirty="0"/>
              <a:t>Roditeljski projekat specificira potprojekte koje sadrži</a:t>
            </a:r>
          </a:p>
          <a:p>
            <a:r>
              <a:rPr lang="sr-Latn-RS" dirty="0"/>
              <a:t>Potprojekti specificiraju koji im je roditeljski projekat</a:t>
            </a:r>
          </a:p>
          <a:p>
            <a:r>
              <a:rPr lang="sr-Latn-RS" dirty="0"/>
              <a:t>Objedinjujemo funkcionalnosti oba pristupa</a:t>
            </a:r>
          </a:p>
          <a:p>
            <a:pPr lvl="1"/>
            <a:r>
              <a:rPr lang="sr-Latn-RS" dirty="0"/>
              <a:t>dobijamo centralizovanu izgradnju više projekata</a:t>
            </a:r>
          </a:p>
          <a:p>
            <a:pPr lvl="1"/>
            <a:r>
              <a:rPr lang="sr-Latn-RS" dirty="0"/>
              <a:t>svaki potprojekat se može izgrađivati i nezavisno</a:t>
            </a:r>
          </a:p>
          <a:p>
            <a:pPr marL="320040" lvl="1" indent="0">
              <a:buNone/>
            </a:pPr>
            <a:r>
              <a:rPr lang="sr-Latn-RS" dirty="0"/>
              <a:t>	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589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Upravljanje zavisnostima u višemodulskom projektu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Projekat od roditelja nasleđuje sve zavisnosti</a:t>
            </a:r>
          </a:p>
          <a:p>
            <a:r>
              <a:rPr lang="sr-Latn-RS" dirty="0"/>
              <a:t>Nekad ovo nije željeno ponašanje</a:t>
            </a:r>
          </a:p>
          <a:p>
            <a:pPr lvl="1"/>
            <a:r>
              <a:rPr lang="sr-Latn-RS" dirty="0"/>
              <a:t>roditelj može da objedinjuje puno zavisnosti potrebnih različitim potprojektima</a:t>
            </a:r>
          </a:p>
          <a:p>
            <a:r>
              <a:rPr lang="sr-Latn-RS" dirty="0"/>
              <a:t>Roditeljski pom može da specificira sve zavisnosti koje mogu trebati potprojektima</a:t>
            </a:r>
          </a:p>
          <a:p>
            <a:pPr lvl="1"/>
            <a:r>
              <a:rPr lang="sr-Latn-RS" dirty="0"/>
              <a:t>koristi se element </a:t>
            </a:r>
            <a:r>
              <a:rPr lang="sr-Latn-RS" i="1" dirty="0">
                <a:cs typeface="Courier New" pitchFamily="49" charset="0"/>
              </a:rPr>
              <a:t>dependencyManagement</a:t>
            </a:r>
            <a:r>
              <a:rPr lang="sr-Latn-RS" dirty="0"/>
              <a:t>	</a:t>
            </a:r>
          </a:p>
          <a:p>
            <a:r>
              <a:rPr lang="sr-Latn-RS" dirty="0"/>
              <a:t>Potprojekti eksplicitno navode koje iz tog skupa svih zavisnosti im trebaju</a:t>
            </a:r>
          </a:p>
          <a:p>
            <a:pPr lvl="1"/>
            <a:r>
              <a:rPr lang="sr-Latn-RS" dirty="0"/>
              <a:t>u okviru </a:t>
            </a:r>
            <a:r>
              <a:rPr lang="sr-Latn-RS" i="1" dirty="0">
                <a:cs typeface="Courier New" pitchFamily="49" charset="0"/>
              </a:rPr>
              <a:t>dependencies</a:t>
            </a:r>
            <a:r>
              <a:rPr lang="sr-Latn-RS" dirty="0"/>
              <a:t> elementa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59441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Upravljanje zavisnostima u višemodulskom projektu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5105400"/>
          </a:xfrm>
        </p:spPr>
        <p:txBody>
          <a:bodyPr>
            <a:normAutofit fontScale="92500"/>
          </a:bodyPr>
          <a:lstStyle/>
          <a:p>
            <a:r>
              <a:rPr lang="en-US" i="1" dirty="0" err="1"/>
              <a:t>dependencyManagement</a:t>
            </a:r>
            <a:r>
              <a:rPr lang="en-US" dirty="0"/>
              <a:t> element </a:t>
            </a:r>
            <a:r>
              <a:rPr lang="en-US" dirty="0" err="1"/>
              <a:t>pojednostavljuje</a:t>
            </a:r>
            <a:r>
              <a:rPr lang="en-US" dirty="0"/>
              <a:t> </a:t>
            </a:r>
            <a:r>
              <a:rPr lang="en-US" dirty="0" err="1"/>
              <a:t>upravljanje</a:t>
            </a:r>
            <a:r>
              <a:rPr lang="en-US" dirty="0"/>
              <a:t> </a:t>
            </a:r>
            <a:r>
              <a:rPr lang="en-US" dirty="0" err="1"/>
              <a:t>verzijama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U </a:t>
            </a:r>
            <a:r>
              <a:rPr lang="en-US" dirty="0" err="1"/>
              <a:t>projekat</a:t>
            </a:r>
            <a:r>
              <a:rPr lang="en-US" dirty="0"/>
              <a:t> </a:t>
            </a:r>
            <a:r>
              <a:rPr lang="sr-Latn-RS" dirty="0"/>
              <a:t>će biti uključena verzija definisana u ovom elementu</a:t>
            </a:r>
          </a:p>
          <a:p>
            <a:pPr lvl="1"/>
            <a:r>
              <a:rPr lang="sr-Latn-RS" dirty="0"/>
              <a:t>ova verzija ima prednost u odnosu na verzije koje se tranzitivno referenciraju</a:t>
            </a:r>
            <a:endParaRPr lang="en-US" dirty="0"/>
          </a:p>
          <a:p>
            <a:r>
              <a:rPr lang="sr-Latn-RS" dirty="0"/>
              <a:t>Potprojekti ne moraju da navode verziju zavisnosti</a:t>
            </a:r>
          </a:p>
          <a:p>
            <a:pPr lvl="1"/>
            <a:r>
              <a:rPr lang="sr-Latn-RS" dirty="0"/>
              <a:t>u roditelju se centralizovano definiše verzija koja se koristi</a:t>
            </a:r>
            <a:endParaRPr lang="en-US" dirty="0"/>
          </a:p>
          <a:p>
            <a:r>
              <a:rPr lang="en-US" dirty="0"/>
              <a:t>Primer</a:t>
            </a:r>
          </a:p>
          <a:p>
            <a:pPr lvl="1"/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Primeri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pom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 (parent-dependencyManagement).xml</a:t>
            </a:r>
          </a:p>
          <a:p>
            <a:pPr lvl="1"/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Primeri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200" dirty="0" err="1">
                <a:latin typeface="Courier New" pitchFamily="49" charset="0"/>
                <a:cs typeface="Courier New" pitchFamily="49" charset="0"/>
              </a:rPr>
              <a:t>pom</a:t>
            </a:r>
            <a:r>
              <a:rPr lang="en-US" sz="2200" dirty="0">
                <a:latin typeface="Courier New" pitchFamily="49" charset="0"/>
                <a:cs typeface="Courier New" pitchFamily="49" charset="0"/>
              </a:rPr>
              <a:t> (child-dependencyManagement).xml</a:t>
            </a:r>
            <a:endParaRPr lang="sr-Latn-RS" sz="2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007591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Generisanje dokumentacije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Maven ima ugrađenu podršku za generisanje dokumentacije projekta</a:t>
            </a:r>
          </a:p>
          <a:p>
            <a:pPr lvl="1"/>
            <a:r>
              <a:rPr lang="sr-Latn-RS" dirty="0"/>
              <a:t>poseban životni ciklus faza za ovu svrhu</a:t>
            </a:r>
          </a:p>
          <a:p>
            <a:r>
              <a:rPr lang="sr-Latn-RS" dirty="0"/>
              <a:t>Generisanje osnovne dokumentacije sa informacijama o projektu</a:t>
            </a:r>
          </a:p>
          <a:p>
            <a:pPr lvl="1"/>
            <a:r>
              <a:rPr lang="sr-Latn-RS" dirty="0">
                <a:latin typeface="Courier New" pitchFamily="49" charset="0"/>
                <a:cs typeface="Courier New" pitchFamily="49" charset="0"/>
              </a:rPr>
              <a:t>mvn site</a:t>
            </a:r>
          </a:p>
          <a:p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endParaRPr lang="sr-Latn-RS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605321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sr-Latn-RS" dirty="0"/>
              <a:t>Generisanje Javadoc dokumentacije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sr-Latn-RS" dirty="0"/>
              <a:t>Poseban </a:t>
            </a:r>
            <a:r>
              <a:rPr lang="sr-Latn-RS" i="1" dirty="0"/>
              <a:t>plugin</a:t>
            </a:r>
            <a:r>
              <a:rPr lang="sr-Latn-RS" dirty="0"/>
              <a:t> se koristi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&lt;reporting&gt;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&lt;plugins&gt;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&lt;plugin&gt;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org.apache.maven.plugins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&gt;maven-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javadoc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-plugin&lt;/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&lt;version&gt;2.10.1&lt;/version&gt;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&lt;/plugin&gt;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&lt;/plugins&gt;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&lt;/reporting&gt;</a:t>
            </a:r>
          </a:p>
        </p:txBody>
      </p:sp>
    </p:spTree>
    <p:extLst>
      <p:ext uri="{BB962C8B-B14F-4D97-AF65-F5344CB8AC3E}">
        <p14:creationId xmlns:p14="http://schemas.microsoft.com/office/powerpoint/2010/main" val="1412830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sr-Latn-RS" sz="3200" dirty="0"/>
              <a:t>Generisanje dokumentacije o testiranju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Poseban </a:t>
            </a:r>
            <a:r>
              <a:rPr lang="sr-Latn-RS" i="1" dirty="0"/>
              <a:t>plugin</a:t>
            </a:r>
            <a:r>
              <a:rPr lang="sr-Latn-RS" dirty="0"/>
              <a:t> za ovu svrhu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&lt;plugin&gt;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org.apache.maven.plugins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&lt;/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groupId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&gt;maven-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surefire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-report-plugin&lt;/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artifactId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0" indent="0">
              <a:buNone/>
            </a:pPr>
            <a:r>
              <a:rPr lang="sr-Latn-RS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&lt;version&gt;2.18&lt;/version&gt;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&lt;/plugin&gt;</a:t>
            </a:r>
          </a:p>
        </p:txBody>
      </p:sp>
    </p:spTree>
    <p:extLst>
      <p:ext uri="{BB962C8B-B14F-4D97-AF65-F5344CB8AC3E}">
        <p14:creationId xmlns:p14="http://schemas.microsoft.com/office/powerpoint/2010/main" val="3118572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14881</TotalTime>
  <Words>2357</Words>
  <Application>Microsoft Office PowerPoint</Application>
  <PresentationFormat>On-screen Show (4:3)</PresentationFormat>
  <Paragraphs>448</Paragraphs>
  <Slides>50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7" baseType="lpstr">
      <vt:lpstr>Arial</vt:lpstr>
      <vt:lpstr>Calibri</vt:lpstr>
      <vt:lpstr>Courier New</vt:lpstr>
      <vt:lpstr>Franklin Gothic Book</vt:lpstr>
      <vt:lpstr>Perpetua</vt:lpstr>
      <vt:lpstr>Wingdings 2</vt:lpstr>
      <vt:lpstr>Equity</vt:lpstr>
      <vt:lpstr>Izgradnja projekta - Apache Maven -</vt:lpstr>
      <vt:lpstr>Konstrukcija softvera</vt:lpstr>
      <vt:lpstr>Automatizovana izgradnja projekta</vt:lpstr>
      <vt:lpstr>Alati za izgradnju softvera</vt:lpstr>
      <vt:lpstr>Alati za izgradnju softvera</vt:lpstr>
      <vt:lpstr>Alati za izgradnju softvera</vt:lpstr>
      <vt:lpstr>Alati za izgradnju softvera</vt:lpstr>
      <vt:lpstr>Alati za izgradnju softvera</vt:lpstr>
      <vt:lpstr>Alati za izgradnju softvera</vt:lpstr>
      <vt:lpstr>Primer Maven projekta</vt:lpstr>
      <vt:lpstr>Primer Maven projekta</vt:lpstr>
      <vt:lpstr>Primer Maven projekta</vt:lpstr>
      <vt:lpstr>Maven životni ciklus izgradnje projekta</vt:lpstr>
      <vt:lpstr>Ugrađeni životni ciklusi</vt:lpstr>
      <vt:lpstr>Default životni ciklus</vt:lpstr>
      <vt:lpstr>Default životni ciklus</vt:lpstr>
      <vt:lpstr>Maven ciljevi</vt:lpstr>
      <vt:lpstr>Maven ciljevi po fazama</vt:lpstr>
      <vt:lpstr>Izgradnja projekta </vt:lpstr>
      <vt:lpstr>Struktura pom fajla</vt:lpstr>
      <vt:lpstr>Struktura pom fajla</vt:lpstr>
      <vt:lpstr>Struktura pom fajla</vt:lpstr>
      <vt:lpstr>Struktura pom fajla</vt:lpstr>
      <vt:lpstr>Maven profili</vt:lpstr>
      <vt:lpstr>Maven profili</vt:lpstr>
      <vt:lpstr>Upravljanje zavisnostima</vt:lpstr>
      <vt:lpstr>Tranzitivne zavisnosti</vt:lpstr>
      <vt:lpstr>Stablo zavisnosti</vt:lpstr>
      <vt:lpstr>Konflikt u stablu zavisnosti</vt:lpstr>
      <vt:lpstr>Medijacija zavisnosti</vt:lpstr>
      <vt:lpstr>Doseg zavisnosti (scope)</vt:lpstr>
      <vt:lpstr>Doseg zavisnosti (scope)</vt:lpstr>
      <vt:lpstr>Doseg zavisnosti (scope)</vt:lpstr>
      <vt:lpstr>Doseg zavisnosti (scope)</vt:lpstr>
      <vt:lpstr>Podešavanje izgradnje projekta</vt:lpstr>
      <vt:lpstr>Upravljanje resursima</vt:lpstr>
      <vt:lpstr>Podešavanje plugin-a</vt:lpstr>
      <vt:lpstr>Dodavanje novog plugina pri izgradnji</vt:lpstr>
      <vt:lpstr>Upravljanje višemodulskim projektima</vt:lpstr>
      <vt:lpstr>Nasleđivanje projekta</vt:lpstr>
      <vt:lpstr>Nasleđivanje projekta</vt:lpstr>
      <vt:lpstr>Lokacija roditeljskog projekta</vt:lpstr>
      <vt:lpstr>Agregacija projekata</vt:lpstr>
      <vt:lpstr>Maven Reactor</vt:lpstr>
      <vt:lpstr>Kombinacija nasleđivanja i agregacije</vt:lpstr>
      <vt:lpstr>Upravljanje zavisnostima u višemodulskom projektu</vt:lpstr>
      <vt:lpstr>Upravljanje zavisnostima u višemodulskom projektu</vt:lpstr>
      <vt:lpstr>Generisanje dokumentacije</vt:lpstr>
      <vt:lpstr>Generisanje Javadoc dokumentacije</vt:lpstr>
      <vt:lpstr>Generisanje dokumentacije o testiranju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Izgradnja projekta - Apache Maven -</dc:title>
  <dc:creator>Goran</dc:creator>
  <cp:lastModifiedBy>Goran Savic</cp:lastModifiedBy>
  <cp:revision>304</cp:revision>
  <dcterms:created xsi:type="dcterms:W3CDTF">2016-06-09T09:24:18Z</dcterms:created>
  <dcterms:modified xsi:type="dcterms:W3CDTF">2020-10-15T09:51:43Z</dcterms:modified>
</cp:coreProperties>
</file>